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92640" y="64465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1100" i="0">
                <a:solidFill>
                  <a:srgbClr val="B9BDC9"/>
                </a:solidFill>
                <a:latin typeface="Consolas"/>
              </a:rPr>
              <a:t>Chokepoint neurons  ·  1 /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 i="0">
                <a:solidFill>
                  <a:srgbClr val="7FB2EE"/>
                </a:solidFill>
                <a:latin typeface="Consolas"/>
              </a:rPr>
              <a:t>FLYWIRE SUMMER INTERNSHIP 2026  ·  PROJECT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28600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4400" i="0">
                <a:solidFill>
                  <a:srgbClr val="F5F3EE"/>
                </a:solidFill>
                <a:latin typeface="Georgia"/>
              </a:rPr>
              <a:t>Chokepoint neurons across sensory pathways</a:t>
            </a:r>
          </a:p>
          <a:p>
            <a:pPr algn="ctr">
              <a:spcBef>
                <a:spcPts val="600"/>
              </a:spcBef>
            </a:pPr>
            <a:r>
              <a:rPr b="0" sz="2400" i="1">
                <a:solidFill>
                  <a:srgbClr val="B9BDC9"/>
                </a:solidFill>
                <a:latin typeface="Georgia"/>
              </a:rPr>
              <a:t>progress &amp; framing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297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600" i="0">
                <a:solidFill>
                  <a:srgbClr val="7FB2EE"/>
                </a:solidFill>
                <a:latin typeface="Calibri"/>
              </a:rPr>
              <a:t>● olfactory   </a:t>
            </a:r>
            <a:r>
              <a:rPr b="1" sz="1600" i="0">
                <a:solidFill>
                  <a:srgbClr val="F08A5C"/>
                </a:solidFill>
                <a:latin typeface="Calibri"/>
              </a:rPr>
              <a:t>● mechanosensory   </a:t>
            </a:r>
            <a:r>
              <a:rPr b="1" sz="1600" i="0">
                <a:solidFill>
                  <a:srgbClr val="3EC996"/>
                </a:solidFill>
                <a:latin typeface="Calibri"/>
              </a:rPr>
              <a:t>● visual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120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400" i="0">
                <a:solidFill>
                  <a:srgbClr val="B9BDC9"/>
                </a:solidFill>
                <a:latin typeface="Calibri"/>
              </a:rPr>
              <a:t>Pranav  ·  August 2026  ·  FAFB v783 + male CNS v0.9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92640" y="64465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1100" i="0">
                <a:solidFill>
                  <a:srgbClr val="B9BDC9"/>
                </a:solidFill>
                <a:latin typeface="Consolas"/>
              </a:rPr>
              <a:t>Chokepoint neurons  ·  2 /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 i="0">
                <a:solidFill>
                  <a:srgbClr val="7FB2EE"/>
                </a:solidFill>
                <a:latin typeface="Consolas"/>
              </a:rPr>
              <a:t>JUNE · THE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300" i="0">
                <a:solidFill>
                  <a:srgbClr val="F5F3EE"/>
                </a:solidFill>
                <a:latin typeface="Georgia"/>
              </a:rPr>
              <a:t>What I set out to find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89888"/>
            <a:ext cx="1463040" cy="40640"/>
          </a:xfrm>
          <a:prstGeom prst="rect">
            <a:avLst/>
          </a:prstGeom>
          <a:solidFill>
            <a:srgbClr val="7FB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0" y="1783080"/>
            <a:ext cx="2651760" cy="868680"/>
          </a:xfrm>
          <a:prstGeom prst="rect">
            <a:avLst/>
          </a:prstGeom>
          <a:solidFill>
            <a:srgbClr val="223352"/>
          </a:solidFill>
          <a:ln w="22225">
            <a:solidFill>
              <a:srgbClr val="F5F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600" i="0">
                <a:solidFill>
                  <a:srgbClr val="F5F3EE"/>
                </a:solidFill>
                <a:latin typeface="Calibri"/>
              </a:rPr>
              <a:t>senses</a:t>
            </a:r>
          </a:p>
          <a:p>
            <a:pPr algn="ctr"/>
            <a:r>
              <a:rPr b="0" sz="1100" i="0">
                <a:solidFill>
                  <a:srgbClr val="B9BDC9"/>
                </a:solidFill>
                <a:latin typeface="Calibri"/>
              </a:rPr>
              <a:t>smell · touch · vision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0" y="1920240"/>
            <a:ext cx="685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2800" i="0">
                <a:solidFill>
                  <a:srgbClr val="B9BDC9"/>
                </a:solidFill>
                <a:latin typeface="Calibri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4709160" y="1783080"/>
            <a:ext cx="2651760" cy="868680"/>
          </a:xfrm>
          <a:prstGeom prst="rect">
            <a:avLst/>
          </a:prstGeom>
          <a:solidFill>
            <a:srgbClr val="223352"/>
          </a:solidFill>
          <a:ln w="22225">
            <a:solidFill>
              <a:srgbClr val="F08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600" i="0">
                <a:solidFill>
                  <a:srgbClr val="F08A5C"/>
                </a:solidFill>
                <a:latin typeface="Calibri"/>
              </a:rPr>
              <a:t>interneurons</a:t>
            </a:r>
          </a:p>
          <a:p>
            <a:pPr algn="ctr"/>
            <a:r>
              <a:rPr b="0" sz="1100" i="0">
                <a:solidFill>
                  <a:srgbClr val="B9BDC9"/>
                </a:solidFill>
                <a:latin typeface="Calibri"/>
              </a:rPr>
              <a:t>the middle of the brain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60920" y="1920240"/>
            <a:ext cx="685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2800" i="0">
                <a:solidFill>
                  <a:srgbClr val="B9BDC9"/>
                </a:solidFill>
                <a:latin typeface="Calibri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0" y="1783080"/>
            <a:ext cx="2651760" cy="868680"/>
          </a:xfrm>
          <a:prstGeom prst="rect">
            <a:avLst/>
          </a:prstGeom>
          <a:solidFill>
            <a:srgbClr val="223352"/>
          </a:solidFill>
          <a:ln w="22225">
            <a:solidFill>
              <a:srgbClr val="F5F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600" i="0">
                <a:solidFill>
                  <a:srgbClr val="F5F3EE"/>
                </a:solidFill>
                <a:latin typeface="Calibri"/>
              </a:rPr>
              <a:t>descending neurons</a:t>
            </a:r>
          </a:p>
          <a:p>
            <a:pPr algn="ctr"/>
            <a:r>
              <a:rPr b="0" sz="1100" i="0">
                <a:solidFill>
                  <a:srgbClr val="B9BDC9"/>
                </a:solidFill>
                <a:latin typeface="Calibri"/>
              </a:rPr>
              <a:t>commands to the body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926080"/>
            <a:ext cx="1088136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800" i="0">
                <a:solidFill>
                  <a:srgbClr val="7FB2EE"/>
                </a:solidFill>
                <a:latin typeface="Calibri"/>
              </a:rPr>
              <a:t>•  </a:t>
            </a:r>
            <a:r>
              <a:rPr b="1" sz="1800" i="0">
                <a:solidFill>
                  <a:srgbClr val="F5F3EE"/>
                </a:solidFill>
                <a:latin typeface="Calibri"/>
              </a:rPr>
              <a:t>Hypothesis:</a:t>
            </a:r>
            <a:r>
              <a:rPr b="0" sz="1800" i="0">
                <a:solidFill>
                  <a:srgbClr val="F5F3EE"/>
                </a:solidFill>
                <a:latin typeface="Calibri"/>
              </a:rPr>
              <a:t> some interneurons are bottlenecks — “if you removed them, information could no longer get through.”</a:t>
            </a:r>
          </a:p>
          <a:p>
            <a:pPr>
              <a:spcAft>
                <a:spcPts val="1000"/>
              </a:spcAft>
            </a:pPr>
            <a:r>
              <a:rPr b="1" sz="1800" i="0">
                <a:solidFill>
                  <a:srgbClr val="7FB2EE"/>
                </a:solidFill>
                <a:latin typeface="Calibri"/>
              </a:rPr>
              <a:t>•  </a:t>
            </a:r>
            <a:r>
              <a:rPr b="1" sz="1800" i="0">
                <a:solidFill>
                  <a:srgbClr val="F5F3EE"/>
                </a:solidFill>
                <a:latin typeface="Calibri"/>
              </a:rPr>
              <a:t>Payoff question:</a:t>
            </a:r>
            <a:r>
              <a:rPr b="0" sz="1800" i="0">
                <a:solidFill>
                  <a:srgbClr val="F5F3EE"/>
                </a:solidFill>
                <a:latin typeface="Calibri"/>
              </a:rPr>
              <a:t> is any neuron a bottleneck for all three senses? That would be a genuinely critical hub of the whole brain.</a:t>
            </a:r>
          </a:p>
          <a:p>
            <a:pPr>
              <a:spcAft>
                <a:spcPts val="1000"/>
              </a:spcAft>
            </a:pPr>
            <a:r>
              <a:rPr b="1" sz="1800" i="0">
                <a:solidFill>
                  <a:srgbClr val="7FB2EE"/>
                </a:solidFill>
                <a:latin typeface="Calibri"/>
              </a:rPr>
              <a:t>•  </a:t>
            </a:r>
            <a:r>
              <a:rPr b="1" sz="1800" i="0">
                <a:solidFill>
                  <a:srgbClr val="F5F3EE"/>
                </a:solidFill>
                <a:latin typeface="Calibri"/>
              </a:rPr>
              <a:t>Why it matters:</a:t>
            </a:r>
            <a:r>
              <a:rPr b="0" sz="1800" i="0">
                <a:solidFill>
                  <a:srgbClr val="F5F3EE"/>
                </a:solidFill>
                <a:latin typeface="Calibri"/>
              </a:rPr>
              <a:t> in human brain imaging, network hubs are the regions preferentially damaged in Alzheimer's and stroke. The fly is the only complete wiring diagram where the idea can be tested exactly.</a:t>
            </a:r>
          </a:p>
          <a:p>
            <a:pPr>
              <a:spcAft>
                <a:spcPts val="1000"/>
              </a:spcAft>
            </a:pPr>
            <a:r>
              <a:rPr b="0" sz="1500" i="1">
                <a:solidFill>
                  <a:srgbClr val="B9BDC9"/>
                </a:solidFill>
                <a:latin typeface="Calibri"/>
              </a:rPr>
              <a:t>Both predictions get tested directly in this talk — and both turn out to be wrong in an interesting way.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92640" y="64465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1100" i="0">
                <a:solidFill>
                  <a:srgbClr val="B9BDC9"/>
                </a:solidFill>
                <a:latin typeface="Consolas"/>
              </a:rPr>
              <a:t>Chokepoint neurons  ·  3 /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 i="0">
                <a:solidFill>
                  <a:srgbClr val="7FB2EE"/>
                </a:solidFill>
                <a:latin typeface="Consolas"/>
              </a:rPr>
              <a:t>JUNE – EARLY JULY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300" i="0">
                <a:solidFill>
                  <a:srgbClr val="F5F3EE"/>
                </a:solidFill>
                <a:latin typeface="Georgia"/>
              </a:rPr>
              <a:t>Learning the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89888"/>
            <a:ext cx="1463040" cy="40640"/>
          </a:xfrm>
          <a:prstGeom prst="rect">
            <a:avLst/>
          </a:prstGeom>
          <a:solidFill>
            <a:srgbClr val="7FB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800" i="0">
                <a:solidFill>
                  <a:srgbClr val="7FB2EE"/>
                </a:solidFill>
                <a:latin typeface="Calibri"/>
              </a:rPr>
              <a:t>•  </a:t>
            </a:r>
            <a:r>
              <a:rPr b="0" sz="1800" i="0">
                <a:solidFill>
                  <a:srgbClr val="F5F3EE"/>
                </a:solidFill>
                <a:latin typeface="Calibri"/>
              </a:rPr>
              <a:t>Downloaded edge lists for five connectomes; learned the data by building neuron </a:t>
            </a:r>
            <a:r>
              <a:rPr b="1" sz="1800" i="0">
                <a:solidFill>
                  <a:srgbClr val="F5F3EE"/>
                </a:solidFill>
                <a:latin typeface="Calibri"/>
              </a:rPr>
              <a:t>embeddings</a:t>
            </a:r>
            <a:r>
              <a:rPr b="0" sz="1800" i="0">
                <a:solidFill>
                  <a:srgbClr val="F5F3EE"/>
                </a:solidFill>
                <a:latin typeface="Calibri"/>
              </a:rPr>
              <a:t> and exploring the graph structure.</a:t>
            </a:r>
          </a:p>
          <a:p>
            <a:pPr>
              <a:spcAft>
                <a:spcPts val="1400"/>
              </a:spcAft>
            </a:pPr>
            <a:r>
              <a:rPr b="1" sz="1800" i="0">
                <a:solidFill>
                  <a:srgbClr val="7FB2EE"/>
                </a:solidFill>
                <a:latin typeface="Calibri"/>
              </a:rPr>
              <a:t>•  </a:t>
            </a:r>
            <a:r>
              <a:rPr b="1" sz="1800" i="0">
                <a:solidFill>
                  <a:srgbClr val="F5F3EE"/>
                </a:solidFill>
                <a:latin typeface="Calibri"/>
              </a:rPr>
              <a:t>Hop-size analysis</a:t>
            </a:r>
            <a:r>
              <a:rPr b="0" sz="1800" i="0">
                <a:solidFill>
                  <a:srgbClr val="F5F3EE"/>
                </a:solidFill>
                <a:latin typeface="Calibri"/>
              </a:rPr>
              <a:t> settled the pathway definition: 1 hop leaves too few real sensory→motor endpoints; 3 hops balloons past what exact path computation can handle. </a:t>
            </a:r>
            <a:r>
              <a:rPr sz="1700" b="0">
                <a:solidFill>
                  <a:srgbClr val="F5F3EE"/>
                </a:solidFill>
                <a:latin typeface="Consolas"/>
              </a:rPr>
              <a:t>2 hops</a:t>
            </a:r>
            <a:r>
              <a:rPr b="0" sz="1800" i="0">
                <a:solidFill>
                  <a:srgbClr val="F5F3EE"/>
                </a:solidFill>
                <a:latin typeface="Calibri"/>
              </a:rPr>
              <a:t> each way became the standard.</a:t>
            </a:r>
          </a:p>
          <a:p>
            <a:pPr>
              <a:spcAft>
                <a:spcPts val="1400"/>
              </a:spcAft>
            </a:pPr>
            <a:r>
              <a:rPr b="1" sz="1800" i="0">
                <a:solidFill>
                  <a:srgbClr val="7FB2EE"/>
                </a:solidFill>
                <a:latin typeface="Calibri"/>
              </a:rPr>
              <a:t>•  </a:t>
            </a:r>
            <a:r>
              <a:rPr b="0" sz="1800" i="0">
                <a:solidFill>
                  <a:srgbClr val="F5F3EE"/>
                </a:solidFill>
                <a:latin typeface="Calibri"/>
              </a:rPr>
              <a:t>First olfactory subgraph running end to end — sensory neurons to descending neurons as one directed graph.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4663440"/>
            <a:ext cx="3108960" cy="1234440"/>
          </a:xfrm>
          <a:prstGeom prst="rect">
            <a:avLst/>
          </a:prstGeom>
          <a:solidFill>
            <a:srgbClr val="22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3000" i="0">
                <a:solidFill>
                  <a:srgbClr val="7FB2EE"/>
                </a:solidFill>
                <a:latin typeface="Consolas"/>
              </a:rPr>
              <a:t>134,181</a:t>
            </a:r>
          </a:p>
          <a:p>
            <a:r>
              <a:rPr b="0" sz="1300" i="0">
                <a:solidFill>
                  <a:srgbClr val="B9BDC9"/>
                </a:solidFill>
                <a:latin typeface="Calibri"/>
              </a:rPr>
              <a:t>neurons, FAFB v783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4663440"/>
            <a:ext cx="3108960" cy="1234440"/>
          </a:xfrm>
          <a:prstGeom prst="rect">
            <a:avLst/>
          </a:prstGeom>
          <a:solidFill>
            <a:srgbClr val="22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3000" i="0">
                <a:solidFill>
                  <a:srgbClr val="7FB2EE"/>
                </a:solidFill>
                <a:latin typeface="Consolas"/>
              </a:rPr>
              <a:t>2.7M</a:t>
            </a:r>
          </a:p>
          <a:p>
            <a:r>
              <a:rPr b="0" sz="1300" i="0">
                <a:solidFill>
                  <a:srgbClr val="B9BDC9"/>
                </a:solidFill>
                <a:latin typeface="Calibri"/>
              </a:rPr>
              <a:t>connected pairs</a:t>
            </a:r>
          </a:p>
        </p:txBody>
      </p:sp>
      <p:sp>
        <p:nvSpPr>
          <p:cNvPr id="9" name="Rectangle 8"/>
          <p:cNvSpPr/>
          <p:nvPr/>
        </p:nvSpPr>
        <p:spPr>
          <a:xfrm>
            <a:off x="7955280" y="4663440"/>
            <a:ext cx="3108960" cy="1234440"/>
          </a:xfrm>
          <a:prstGeom prst="rect">
            <a:avLst/>
          </a:prstGeom>
          <a:solidFill>
            <a:srgbClr val="22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3000" i="0">
                <a:solidFill>
                  <a:srgbClr val="7FB2EE"/>
                </a:solidFill>
                <a:latin typeface="Consolas"/>
              </a:rPr>
              <a:t>3</a:t>
            </a:r>
          </a:p>
          <a:p>
            <a:r>
              <a:rPr b="0" sz="1300" i="0">
                <a:solidFill>
                  <a:srgbClr val="B9BDC9"/>
                </a:solidFill>
                <a:latin typeface="Calibri"/>
              </a:rPr>
              <a:t>sensory pathways built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92640" y="64465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1100" i="0">
                <a:solidFill>
                  <a:srgbClr val="B9BDC9"/>
                </a:solidFill>
                <a:latin typeface="Consolas"/>
              </a:rPr>
              <a:t>Chokepoint neurons  ·  4 /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 i="0">
                <a:solidFill>
                  <a:srgbClr val="E66767"/>
                </a:solidFill>
                <a:latin typeface="Consolas"/>
              </a:rPr>
              <a:t>MID-JULY · FIRST RESULT, FIRST MISTAKE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300" i="0">
                <a:solidFill>
                  <a:srgbClr val="F5F3EE"/>
                </a:solidFill>
                <a:latin typeface="Georgia"/>
              </a:rPr>
              <a:t>DNp32 — a headline that wasn't real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89888"/>
            <a:ext cx="1463040" cy="40640"/>
          </a:xfrm>
          <a:prstGeom prst="rect">
            <a:avLst/>
          </a:prstGeom>
          <a:solidFill>
            <a:srgbClr val="E667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088136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800" i="0">
                <a:solidFill>
                  <a:srgbClr val="7FB2EE"/>
                </a:solidFill>
                <a:latin typeface="Calibri"/>
              </a:rPr>
              <a:t>•  </a:t>
            </a:r>
            <a:r>
              <a:rPr b="0" sz="1800" i="0">
                <a:solidFill>
                  <a:srgbClr val="F5F3EE"/>
                </a:solidFill>
                <a:latin typeface="Calibri"/>
              </a:rPr>
              <a:t>First full run used </a:t>
            </a:r>
            <a:r>
              <a:rPr b="1" sz="1800" i="0">
                <a:solidFill>
                  <a:srgbClr val="F5F3EE"/>
                </a:solidFill>
                <a:latin typeface="Calibri"/>
              </a:rPr>
              <a:t>unweighted</a:t>
            </a:r>
            <a:r>
              <a:rPr b="0" sz="1800" i="0">
                <a:solidFill>
                  <a:srgbClr val="F5F3EE"/>
                </a:solidFill>
                <a:latin typeface="Calibri"/>
              </a:rPr>
              <a:t> betweenness — every connection counted the same — and produced a headline: </a:t>
            </a:r>
            <a:r>
              <a:rPr sz="1700" b="0">
                <a:solidFill>
                  <a:srgbClr val="F5F3EE"/>
                </a:solidFill>
                <a:latin typeface="Consolas"/>
              </a:rPr>
              <a:t>DNp32</a:t>
            </a:r>
            <a:r>
              <a:rPr b="0" sz="1800" i="0">
                <a:solidFill>
                  <a:srgbClr val="F5F3EE"/>
                </a:solidFill>
                <a:latin typeface="Calibri"/>
              </a:rPr>
              <a:t>, a bottleneck shared by smell *and* vision.</a:t>
            </a:r>
          </a:p>
          <a:p>
            <a:pPr>
              <a:spcAft>
                <a:spcPts val="1200"/>
              </a:spcAft>
            </a:pPr>
            <a:r>
              <a:rPr b="1" sz="1800" i="0">
                <a:solidFill>
                  <a:srgbClr val="7FB2EE"/>
                </a:solidFill>
                <a:latin typeface="Calibri"/>
              </a:rPr>
              <a:t>•  </a:t>
            </a:r>
            <a:r>
              <a:rPr b="0" sz="1800" i="0">
                <a:solidFill>
                  <a:srgbClr val="F5F3EE"/>
                </a:solidFill>
                <a:latin typeface="Calibri"/>
              </a:rPr>
              <a:t>The problem: the edge list I had inherited carried </a:t>
            </a:r>
            <a:r>
              <a:rPr b="1" sz="1800" i="0">
                <a:solidFill>
                  <a:srgbClr val="F5F3EE"/>
                </a:solidFill>
                <a:latin typeface="Calibri"/>
              </a:rPr>
              <a:t>no synapse counts</a:t>
            </a:r>
            <a:r>
              <a:rPr b="0" sz="1800" i="0">
                <a:solidFill>
                  <a:srgbClr val="F5F3EE"/>
                </a:solidFill>
                <a:latin typeface="Calibri"/>
              </a:rPr>
              <a:t>. A 5-synapse whisper and a 500-synapse highway looked identical.</a:t>
            </a:r>
          </a:p>
          <a:p>
            <a:pPr>
              <a:spcAft>
                <a:spcPts val="1200"/>
              </a:spcAft>
            </a:pPr>
            <a:r>
              <a:rPr b="1" sz="1800" i="0">
                <a:solidFill>
                  <a:srgbClr val="7FB2EE"/>
                </a:solidFill>
                <a:latin typeface="Calibri"/>
              </a:rPr>
              <a:t>•  </a:t>
            </a:r>
            <a:r>
              <a:rPr b="0" sz="1800" i="0">
                <a:solidFill>
                  <a:srgbClr val="F5F3EE"/>
                </a:solidFill>
                <a:latin typeface="Calibri"/>
              </a:rPr>
              <a:t>With the real weighted Codex data, </a:t>
            </a:r>
            <a:r>
              <a:rPr sz="1700" b="0">
                <a:solidFill>
                  <a:srgbClr val="F5F3EE"/>
                </a:solidFill>
                <a:latin typeface="Consolas"/>
              </a:rPr>
              <a:t>DNp32</a:t>
            </a:r>
            <a:r>
              <a:rPr b="0" sz="1800" i="0">
                <a:solidFill>
                  <a:srgbClr val="F5F3EE"/>
                </a:solidFill>
                <a:latin typeface="Calibri"/>
              </a:rPr>
              <a:t>'s betweenness is </a:t>
            </a:r>
            <a:r>
              <a:rPr b="1" sz="1800" i="0">
                <a:solidFill>
                  <a:srgbClr val="F5F3EE"/>
                </a:solidFill>
                <a:latin typeface="Calibri"/>
              </a:rPr>
              <a:t>exactly zero</a:t>
            </a:r>
            <a:r>
              <a:rPr b="0" sz="1800" i="0">
                <a:solidFill>
                  <a:srgbClr val="F5F3EE"/>
                </a:solidFill>
                <a:latin typeface="Calibri"/>
              </a:rPr>
              <a:t> in both pathways. It sits on no strong route at all — a pure artifact.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4434840"/>
            <a:ext cx="10881360" cy="1554480"/>
          </a:xfrm>
          <a:prstGeom prst="rect">
            <a:avLst/>
          </a:prstGeom>
          <a:solidFill>
            <a:srgbClr val="22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4434840"/>
            <a:ext cx="57150" cy="1554480"/>
          </a:xfrm>
          <a:prstGeom prst="rect">
            <a:avLst/>
          </a:prstGeom>
          <a:solidFill>
            <a:srgbClr val="E667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45720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700" i="0">
                <a:solidFill>
                  <a:srgbClr val="F5F3EE"/>
                </a:solidFill>
                <a:latin typeface="Calibri"/>
              </a:rPr>
              <a:t>Weighting is not a refinement — it decides the answer.</a:t>
            </a:r>
          </a:p>
          <a:p>
            <a:pPr>
              <a:spcBef>
                <a:spcPts val="400"/>
              </a:spcBef>
            </a:pPr>
            <a:r>
              <a:rPr b="0" sz="1500" i="0">
                <a:solidFill>
                  <a:srgbClr val="F5F3EE"/>
                </a:solidFill>
                <a:latin typeface="Calibri"/>
              </a:rPr>
              <a:t>An ablation isolating the weighting shows it alone changes </a:t>
            </a:r>
            <a:r>
              <a:rPr sz="1400" b="0">
                <a:solidFill>
                  <a:srgbClr val="F5F3EE"/>
                </a:solidFill>
                <a:latin typeface="Consolas"/>
              </a:rPr>
              <a:t>23–32 of each top 50</a:t>
            </a:r>
            <a:r>
              <a:rPr b="0" sz="1500" i="0">
                <a:solidFill>
                  <a:srgbClr val="F5F3EE"/>
                </a:solidFill>
                <a:latin typeface="Calibri"/>
              </a:rPr>
              <a:t>. After this, no result in the project went unreported without a control.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92640" y="64465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1100" i="0">
                <a:solidFill>
                  <a:srgbClr val="B9BDC9"/>
                </a:solidFill>
                <a:latin typeface="Consolas"/>
              </a:rPr>
              <a:t>Chokepoint neurons  ·  5 /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 i="0">
                <a:solidFill>
                  <a:srgbClr val="7FB2EE"/>
                </a:solidFill>
                <a:latin typeface="Consolas"/>
              </a:rPr>
              <a:t>EARLY AUGUST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300" i="0">
                <a:solidFill>
                  <a:srgbClr val="F5F3EE"/>
                </a:solidFill>
                <a:latin typeface="Georgia"/>
              </a:rPr>
              <a:t>Rebuilt on weighted data — the anatomy checks out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89888"/>
            <a:ext cx="1463040" cy="40640"/>
          </a:xfrm>
          <a:prstGeom prst="rect">
            <a:avLst/>
          </a:prstGeom>
          <a:solidFill>
            <a:srgbClr val="7FB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4_validated_olfac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91640"/>
            <a:ext cx="5577840" cy="2560374"/>
          </a:xfrm>
          <a:prstGeom prst="rect">
            <a:avLst/>
          </a:prstGeom>
        </p:spPr>
      </p:pic>
      <p:pic>
        <p:nvPicPr>
          <p:cNvPr id="7" name="Picture 6" descr="fig4_validated_mechanosens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691640"/>
            <a:ext cx="5577840" cy="256494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4892040"/>
            <a:ext cx="108813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600" i="0">
                <a:solidFill>
                  <a:srgbClr val="7FB2EE"/>
                </a:solidFill>
                <a:latin typeface="Calibri"/>
              </a:rPr>
              <a:t>•  </a:t>
            </a:r>
            <a:r>
              <a:rPr b="0" sz="1600" i="0">
                <a:solidFill>
                  <a:srgbClr val="F5F3EE"/>
                </a:solidFill>
                <a:latin typeface="Calibri"/>
              </a:rPr>
              <a:t>From connectivity alone, the ranking recovers textbook anatomy: olfactory bottlenecks concentrate in the </a:t>
            </a:r>
            <a:r>
              <a:rPr b="1" sz="1600" i="0">
                <a:solidFill>
                  <a:srgbClr val="F5F3EE"/>
                </a:solidFill>
                <a:latin typeface="Calibri"/>
              </a:rPr>
              <a:t>antennal lobe</a:t>
            </a:r>
            <a:r>
              <a:rPr b="0" sz="1600" i="0">
                <a:solidFill>
                  <a:srgbClr val="F5F3EE"/>
                </a:solidFill>
                <a:latin typeface="Calibri"/>
              </a:rPr>
              <a:t>, touch bottlenecks in the </a:t>
            </a:r>
            <a:r>
              <a:rPr b="1" sz="1600" i="0">
                <a:solidFill>
                  <a:srgbClr val="F5F3EE"/>
                </a:solidFill>
                <a:latin typeface="Calibri"/>
              </a:rPr>
              <a:t>gnathal ganglion</a:t>
            </a:r>
            <a:r>
              <a:rPr b="0" sz="1600" i="0">
                <a:solidFill>
                  <a:srgbClr val="F5F3EE"/>
                </a:solidFill>
                <a:latin typeface="Calibri"/>
              </a:rPr>
              <a:t>.</a:t>
            </a:r>
          </a:p>
          <a:p>
            <a:pPr>
              <a:spcAft>
                <a:spcPts val="600"/>
              </a:spcAft>
            </a:pPr>
            <a:r>
              <a:rPr b="1" sz="1600" i="0">
                <a:solidFill>
                  <a:srgbClr val="F08A5C"/>
                </a:solidFill>
                <a:latin typeface="Calibri"/>
              </a:rPr>
              <a:t>•  </a:t>
            </a:r>
            <a:r>
              <a:rPr b="0" sz="1600" i="0">
                <a:solidFill>
                  <a:srgbClr val="F5F3EE"/>
                </a:solidFill>
                <a:latin typeface="Calibri"/>
              </a:rPr>
              <a:t>Cross-modal check: </a:t>
            </a:r>
            <a:r>
              <a:rPr b="1" sz="1600" i="0">
                <a:solidFill>
                  <a:srgbClr val="F5F3EE"/>
                </a:solidFill>
                <a:latin typeface="Calibri"/>
              </a:rPr>
              <a:t>5 neurons</a:t>
            </a:r>
            <a:r>
              <a:rPr b="0" sz="1600" i="0">
                <a:solidFill>
                  <a:srgbClr val="F5F3EE"/>
                </a:solidFill>
                <a:latin typeface="Calibri"/>
              </a:rPr>
              <a:t> appear in two pathways' top 50, </a:t>
            </a:r>
            <a:r>
              <a:rPr b="1" sz="1600" i="0">
                <a:solidFill>
                  <a:srgbClr val="F5F3EE"/>
                </a:solidFill>
                <a:latin typeface="Calibri"/>
              </a:rPr>
              <a:t>none in all three</a:t>
            </a:r>
            <a:r>
              <a:rPr b="0" sz="1600" i="0">
                <a:solidFill>
                  <a:srgbClr val="F5F3EE"/>
                </a:solidFill>
                <a:latin typeface="Calibri"/>
              </a:rPr>
              <a:t> — the first crack in the hypothesis.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92640" y="64465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1100" i="0">
                <a:solidFill>
                  <a:srgbClr val="B9BDC9"/>
                </a:solidFill>
                <a:latin typeface="Consolas"/>
              </a:rPr>
              <a:t>Chokepoint neurons  ·  6 /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 i="0">
                <a:solidFill>
                  <a:srgbClr val="F08A5C"/>
                </a:solidFill>
                <a:latin typeface="Consolas"/>
              </a:rPr>
              <a:t>THE WEEK EVERYTHING GOT TESTED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300" i="0">
                <a:solidFill>
                  <a:srgbClr val="F5F3EE"/>
                </a:solidFill>
                <a:latin typeface="Georgia"/>
              </a:rPr>
              <a:t>Is “important” even well-defined?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89888"/>
            <a:ext cx="1463040" cy="40640"/>
          </a:xfrm>
          <a:prstGeom prst="rect">
            <a:avLst/>
          </a:prstGeom>
          <a:solidFill>
            <a:srgbClr val="F08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2_metric_disagre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0" y="1600200"/>
            <a:ext cx="6432401" cy="3063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4800600"/>
            <a:ext cx="1088136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b="1" sz="1500" i="0">
                <a:solidFill>
                  <a:srgbClr val="F08A5C"/>
                </a:solidFill>
                <a:latin typeface="Calibri"/>
              </a:rPr>
              <a:t>•  </a:t>
            </a:r>
            <a:r>
              <a:rPr b="0" sz="1500" i="0">
                <a:solidFill>
                  <a:srgbClr val="F5F3EE"/>
                </a:solidFill>
                <a:latin typeface="Calibri"/>
              </a:rPr>
              <a:t>Different importance metrics pick </a:t>
            </a:r>
            <a:r>
              <a:rPr b="1" sz="1500" i="0">
                <a:solidFill>
                  <a:srgbClr val="F5F3EE"/>
                </a:solidFill>
                <a:latin typeface="Calibri"/>
              </a:rPr>
              <a:t>almost completely different neurons</a:t>
            </a:r>
            <a:r>
              <a:rPr b="0" sz="1500" i="0">
                <a:solidFill>
                  <a:srgbClr val="F5F3EE"/>
                </a:solidFill>
                <a:latin typeface="Calibri"/>
              </a:rPr>
              <a:t>: betweenness vs. the BANC influence metric overlap at </a:t>
            </a:r>
            <a:r>
              <a:rPr sz="1400" b="0">
                <a:solidFill>
                  <a:srgbClr val="F5F3EE"/>
                </a:solidFill>
                <a:latin typeface="Consolas"/>
              </a:rPr>
              <a:t>1/50</a:t>
            </a:r>
            <a:r>
              <a:rPr b="0" sz="1500" i="0">
                <a:solidFill>
                  <a:srgbClr val="F5F3EE"/>
                </a:solidFill>
                <a:latin typeface="Calibri"/>
              </a:rPr>
              <a:t> and </a:t>
            </a:r>
            <a:r>
              <a:rPr sz="1400" b="0">
                <a:solidFill>
                  <a:srgbClr val="F5F3EE"/>
                </a:solidFill>
                <a:latin typeface="Consolas"/>
              </a:rPr>
              <a:t>0/50</a:t>
            </a:r>
            <a:r>
              <a:rPr b="0" sz="1500" i="0">
                <a:solidFill>
                  <a:srgbClr val="F5F3EE"/>
                </a:solidFill>
                <a:latin typeface="Calibri"/>
              </a:rPr>
              <a:t>.</a:t>
            </a:r>
          </a:p>
          <a:p>
            <a:pPr>
              <a:spcAft>
                <a:spcPts val="500"/>
              </a:spcAft>
            </a:pPr>
            <a:r>
              <a:rPr b="1" sz="1500" i="0">
                <a:solidFill>
                  <a:srgbClr val="F08A5C"/>
                </a:solidFill>
                <a:latin typeface="Calibri"/>
              </a:rPr>
              <a:t>•  </a:t>
            </a:r>
            <a:r>
              <a:rPr b="0" sz="1500" i="0">
                <a:solidFill>
                  <a:srgbClr val="F5F3EE"/>
                </a:solidFill>
                <a:latin typeface="Calibri"/>
              </a:rPr>
              <a:t>Worse: in two of three pathways, betweenness largely reduces to </a:t>
            </a:r>
            <a:r>
              <a:rPr b="1" sz="1500" i="0">
                <a:solidFill>
                  <a:srgbClr val="F5F3EE"/>
                </a:solidFill>
                <a:latin typeface="Calibri"/>
              </a:rPr>
              <a:t>counting synapses</a:t>
            </a:r>
            <a:r>
              <a:rPr b="0" sz="1500" i="0">
                <a:solidFill>
                  <a:srgbClr val="F5F3EE"/>
                </a:solidFill>
                <a:latin typeface="Calibri"/>
              </a:rPr>
              <a:t> (23/50, 26/50 overlap with raw synapse count).</a:t>
            </a:r>
          </a:p>
          <a:p>
            <a:pPr>
              <a:spcAft>
                <a:spcPts val="500"/>
              </a:spcAft>
            </a:pPr>
            <a:r>
              <a:rPr b="1" sz="1500" i="0">
                <a:solidFill>
                  <a:srgbClr val="F08A5C"/>
                </a:solidFill>
                <a:latin typeface="Calibri"/>
              </a:rPr>
              <a:t>•  </a:t>
            </a:r>
            <a:r>
              <a:rPr b="0" sz="1500" i="0">
                <a:solidFill>
                  <a:srgbClr val="F5F3EE"/>
                </a:solidFill>
                <a:latin typeface="Calibri"/>
              </a:rPr>
              <a:t>Rescue: a null that shuffles the network while </a:t>
            </a:r>
            <a:r>
              <a:rPr b="1" sz="1500" i="0">
                <a:solidFill>
                  <a:srgbClr val="F5F3EE"/>
                </a:solidFill>
                <a:latin typeface="Calibri"/>
              </a:rPr>
              <a:t>preserving every neuron's exact degree</a:t>
            </a:r>
            <a:r>
              <a:rPr b="0" sz="1500" i="0">
                <a:solidFill>
                  <a:srgbClr val="F5F3EE"/>
                </a:solidFill>
                <a:latin typeface="Calibri"/>
              </a:rPr>
              <a:t> — 200 trials, FDR-corrected — </a:t>
            </a:r>
            <a:r>
              <a:rPr sz="1400" b="0">
                <a:solidFill>
                  <a:srgbClr val="F5F3EE"/>
                </a:solidFill>
                <a:latin typeface="Consolas"/>
              </a:rPr>
              <a:t>37–45 of 50</a:t>
            </a:r>
            <a:r>
              <a:rPr b="0" sz="1500" i="0">
                <a:solidFill>
                  <a:srgbClr val="F5F3EE"/>
                </a:solidFill>
                <a:latin typeface="Calibri"/>
              </a:rPr>
              <a:t> survive. The top neurons matter because of *where they sit*, not how many synapses they have.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92640" y="64465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1100" i="0">
                <a:solidFill>
                  <a:srgbClr val="B9BDC9"/>
                </a:solidFill>
                <a:latin typeface="Consolas"/>
              </a:rPr>
              <a:t>Chokepoint neurons  ·  7 /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 i="0">
                <a:solidFill>
                  <a:srgbClr val="E66767"/>
                </a:solidFill>
                <a:latin typeface="Consolas"/>
              </a:rPr>
              <a:t>THE DELETION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300" i="0">
                <a:solidFill>
                  <a:srgbClr val="F5F3EE"/>
                </a:solidFill>
                <a:latin typeface="Georgia"/>
              </a:rPr>
              <a:t>The hypothesis fails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89888"/>
            <a:ext cx="1463040" cy="40640"/>
          </a:xfrm>
          <a:prstGeom prst="rect">
            <a:avLst/>
          </a:prstGeom>
          <a:solidFill>
            <a:srgbClr val="E667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3_deletion_da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1720" y="1600200"/>
            <a:ext cx="8442314" cy="2880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4617720"/>
            <a:ext cx="1088136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b="1" sz="1500" i="0">
                <a:solidFill>
                  <a:srgbClr val="E66767"/>
                </a:solidFill>
                <a:latin typeface="Calibri"/>
              </a:rPr>
              <a:t>•  </a:t>
            </a:r>
            <a:r>
              <a:rPr b="0" sz="1500" i="0">
                <a:solidFill>
                  <a:srgbClr val="F5F3EE"/>
                </a:solidFill>
                <a:latin typeface="Calibri"/>
              </a:rPr>
              <a:t>Deleted each top neuron and re-solved every sensory→motor route: routes get </a:t>
            </a:r>
            <a:r>
              <a:rPr b="1" sz="1500" i="0">
                <a:solidFill>
                  <a:srgbClr val="F5F3EE"/>
                </a:solidFill>
                <a:latin typeface="Calibri"/>
              </a:rPr>
              <a:t>under 1% longer</a:t>
            </a:r>
            <a:r>
              <a:rPr b="0" sz="1500" i="0">
                <a:solidFill>
                  <a:srgbClr val="F5F3EE"/>
                </a:solidFill>
                <a:latin typeface="Calibri"/>
              </a:rPr>
              <a:t> on average, and </a:t>
            </a:r>
            <a:r>
              <a:rPr b="1" sz="1500" i="0">
                <a:solidFill>
                  <a:srgbClr val="F5F3EE"/>
                </a:solidFill>
                <a:latin typeface="Calibri"/>
              </a:rPr>
              <a:t>zero</a:t>
            </a:r>
            <a:r>
              <a:rPr b="0" sz="1500" i="0">
                <a:solidFill>
                  <a:srgbClr val="F5F3EE"/>
                </a:solidFill>
                <a:latin typeface="Calibri"/>
              </a:rPr>
              <a:t> source→target pairs are ever disconnected.</a:t>
            </a:r>
          </a:p>
          <a:p>
            <a:pPr>
              <a:spcAft>
                <a:spcPts val="500"/>
              </a:spcAft>
            </a:pPr>
            <a:r>
              <a:rPr b="1" sz="1500" i="0">
                <a:solidFill>
                  <a:srgbClr val="E66767"/>
                </a:solidFill>
                <a:latin typeface="Calibri"/>
              </a:rPr>
              <a:t>•  </a:t>
            </a:r>
            <a:r>
              <a:rPr b="0" sz="1500" i="0">
                <a:solidFill>
                  <a:srgbClr val="F5F3EE"/>
                </a:solidFill>
                <a:latin typeface="Calibri"/>
              </a:rPr>
              <a:t>The five cross-modal neurons are indistinguishable from ordinary top-50 neurons (z between −0.79 and +0.94).</a:t>
            </a:r>
          </a:p>
          <a:p>
            <a:pPr>
              <a:spcAft>
                <a:spcPts val="500"/>
              </a:spcAft>
            </a:pPr>
            <a:r>
              <a:rPr b="1" sz="1500" i="0">
                <a:solidFill>
                  <a:srgbClr val="E66767"/>
                </a:solidFill>
                <a:latin typeface="Calibri"/>
              </a:rPr>
              <a:t>•  </a:t>
            </a:r>
            <a:r>
              <a:rPr b="0" sz="1500" i="0">
                <a:solidFill>
                  <a:srgbClr val="F5F3EE"/>
                </a:solidFill>
                <a:latin typeface="Calibri"/>
              </a:rPr>
              <a:t>Growth note: I also caught my own scoring artifact here — deleting a neuron that is itself an endpoint trivially cuts its own pairs, which had inflated an earlier version of this result.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92640" y="64465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1100" i="0">
                <a:solidFill>
                  <a:srgbClr val="B9BDC9"/>
                </a:solidFill>
                <a:latin typeface="Consolas"/>
              </a:rPr>
              <a:t>Chokepoint neurons  ·  8 /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 i="0">
                <a:solidFill>
                  <a:srgbClr val="3EC996"/>
                </a:solidFill>
                <a:latin typeface="Consolas"/>
              </a:rPr>
              <a:t>REPLICATION · THE STRONGEST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300" i="0">
                <a:solidFill>
                  <a:srgbClr val="F5F3EE"/>
                </a:solidFill>
                <a:latin typeface="Georgia"/>
              </a:rPr>
              <a:t>It reproduces in a second brain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89888"/>
            <a:ext cx="1463040" cy="40640"/>
          </a:xfrm>
          <a:prstGeom prst="rect">
            <a:avLst/>
          </a:prstGeom>
          <a:solidFill>
            <a:srgbClr val="3EC9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5_repli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3080" y="1554480"/>
            <a:ext cx="8409066" cy="3154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4846320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b="1" sz="1500" i="0">
                <a:solidFill>
                  <a:srgbClr val="3EC996"/>
                </a:solidFill>
                <a:latin typeface="Calibri"/>
              </a:rPr>
              <a:t>•  </a:t>
            </a:r>
            <a:r>
              <a:rPr b="0" sz="1500" i="0">
                <a:solidFill>
                  <a:srgbClr val="F5F3EE"/>
                </a:solidFill>
                <a:latin typeface="Calibri"/>
              </a:rPr>
              <a:t>Entire pipeline rerun on the </a:t>
            </a:r>
            <a:r>
              <a:rPr b="1" sz="1500" i="0">
                <a:solidFill>
                  <a:srgbClr val="F5F3EE"/>
                </a:solidFill>
                <a:latin typeface="Calibri"/>
              </a:rPr>
              <a:t>Janelia male CNS</a:t>
            </a:r>
            <a:r>
              <a:rPr b="0" sz="1500" i="0">
                <a:solidFill>
                  <a:srgbClr val="F5F3EE"/>
                </a:solidFill>
                <a:latin typeface="Calibri"/>
              </a:rPr>
              <a:t> — different animal, different sex, different reconstruction pipeline.</a:t>
            </a:r>
          </a:p>
          <a:p>
            <a:pPr>
              <a:spcAft>
                <a:spcPts val="500"/>
              </a:spcAft>
            </a:pPr>
            <a:r>
              <a:rPr b="1" sz="1500" i="0">
                <a:solidFill>
                  <a:srgbClr val="3EC996"/>
                </a:solidFill>
                <a:latin typeface="Calibri"/>
              </a:rPr>
              <a:t>•  </a:t>
            </a:r>
            <a:r>
              <a:rPr b="0" sz="1500" i="0">
                <a:solidFill>
                  <a:srgbClr val="F5F3EE"/>
                </a:solidFill>
                <a:latin typeface="Calibri"/>
              </a:rPr>
              <a:t>Cell-type rankings agree at </a:t>
            </a:r>
            <a:r>
              <a:rPr sz="1400" b="0">
                <a:solidFill>
                  <a:srgbClr val="F5F3EE"/>
                </a:solidFill>
                <a:latin typeface="Consolas"/>
              </a:rPr>
              <a:t>ρ = 0.45–0.71</a:t>
            </a:r>
            <a:r>
              <a:rPr b="0" sz="1500" i="0">
                <a:solidFill>
                  <a:srgbClr val="F5F3EE"/>
                </a:solidFill>
                <a:latin typeface="Calibri"/>
              </a:rPr>
              <a:t>; top-25 overlaps are 4.5–43× chance. The redundancy result and the degree null replicate too.</a:t>
            </a:r>
          </a:p>
          <a:p>
            <a:pPr>
              <a:spcAft>
                <a:spcPts val="500"/>
              </a:spcAft>
            </a:pPr>
            <a:r>
              <a:rPr b="1" sz="1500" i="0">
                <a:solidFill>
                  <a:srgbClr val="3EC996"/>
                </a:solidFill>
                <a:latin typeface="Calibri"/>
              </a:rPr>
              <a:t>•  </a:t>
            </a:r>
            <a:r>
              <a:rPr b="0" sz="1500" i="0">
                <a:solidFill>
                  <a:srgbClr val="F5F3EE"/>
                </a:solidFill>
                <a:latin typeface="Calibri"/>
              </a:rPr>
              <a:t>Whatever betweenness measures here, it is a property of *the fly nervous system*, not of one reconstruction.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92640" y="64465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1100" i="0">
                <a:solidFill>
                  <a:srgbClr val="B9BDC9"/>
                </a:solidFill>
                <a:latin typeface="Consolas"/>
              </a:rPr>
              <a:t>Chokepoint neurons  ·  9 /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 i="0">
                <a:solidFill>
                  <a:srgbClr val="7FB2EE"/>
                </a:solidFill>
                <a:latin typeface="Consolas"/>
              </a:rPr>
              <a:t>GROUND TRUTH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300" i="0">
                <a:solidFill>
                  <a:srgbClr val="F5F3EE"/>
                </a:solidFill>
                <a:latin typeface="Georgia"/>
              </a:rPr>
              <a:t>The physiology agrees — with the negative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89888"/>
            <a:ext cx="1463040" cy="40640"/>
          </a:xfrm>
          <a:prstGeom prst="rect">
            <a:avLst/>
          </a:prstGeom>
          <a:solidFill>
            <a:srgbClr val="7FB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188720" y="1737360"/>
          <a:ext cx="978408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2286000"/>
                <a:gridCol w="4206240"/>
              </a:tblGrid>
              <a:tr h="579120">
                <a:tc>
                  <a:txBody>
                    <a:bodyPr wrap="square"/>
                    <a:lstStyle/>
                    <a:p/>
                  </a:txBody>
                  <a:tcPr>
                    <a:solidFill>
                      <a:srgbClr val="7FB2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16233A"/>
                          </a:solidFill>
                          <a:latin typeface="Consolas"/>
                        </a:rPr>
                        <a:t>betweenness rank</a:t>
                      </a:r>
                    </a:p>
                  </a:txBody>
                  <a:tcPr>
                    <a:solidFill>
                      <a:srgbClr val="7FB2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16233A"/>
                          </a:solidFill>
                          <a:latin typeface="Consolas"/>
                        </a:rPr>
                        <a:t>experimental result</a:t>
                      </a:r>
                    </a:p>
                  </a:txBody>
                  <a:tcPr>
                    <a:solidFill>
                      <a:srgbClr val="7FB2EE"/>
                    </a:solidFill>
                  </a:tcPr>
                </a:tc>
              </a:tr>
              <a:tr h="579120">
                <a:tc>
                  <a:txBody>
                    <a:bodyPr wrap="square"/>
                    <a:lstStyle/>
                    <a:p>
                      <a:r>
                        <a:rPr b="1" sz="1500" i="0">
                          <a:solidFill>
                            <a:srgbClr val="F5F3EE"/>
                          </a:solidFill>
                          <a:latin typeface="Calibri"/>
                        </a:rPr>
                        <a:t>T4, Mi9  (motion pathway)</a:t>
                      </a:r>
                    </a:p>
                  </a:txBody>
                  <a:tcPr>
                    <a:solidFill>
                      <a:srgbClr val="1623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500" i="0">
                          <a:solidFill>
                            <a:srgbClr val="F5F3EE"/>
                          </a:solidFill>
                          <a:latin typeface="Consolas"/>
                        </a:rPr>
                        <a:t>~1000–2000</a:t>
                      </a:r>
                    </a:p>
                  </a:txBody>
                  <a:tcPr>
                    <a:solidFill>
                      <a:srgbClr val="1623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500" i="0">
                          <a:solidFill>
                            <a:srgbClr val="F5F3EE"/>
                          </a:solidFill>
                          <a:latin typeface="Calibri"/>
                        </a:rPr>
                        <a:t>blocking → fly is motion-blind</a:t>
                      </a:r>
                    </a:p>
                  </a:txBody>
                  <a:tcPr>
                    <a:solidFill>
                      <a:srgbClr val="16233A"/>
                    </a:solidFill>
                  </a:tcPr>
                </a:tc>
              </a:tr>
              <a:tr h="579120">
                <a:tc>
                  <a:txBody>
                    <a:bodyPr wrap="square"/>
                    <a:lstStyle/>
                    <a:p>
                      <a:r>
                        <a:rPr b="1" sz="1500" i="0">
                          <a:solidFill>
                            <a:srgbClr val="F5F3EE"/>
                          </a:solidFill>
                          <a:latin typeface="Calibri"/>
                        </a:rPr>
                        <a:t>lLN2T_c  (my olfactory rank 1)</a:t>
                      </a:r>
                    </a:p>
                  </a:txBody>
                  <a:tcPr>
                    <a:solidFill>
                      <a:srgbClr val="22335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500" i="0">
                          <a:solidFill>
                            <a:srgbClr val="F5F3EE"/>
                          </a:solidFill>
                          <a:latin typeface="Consolas"/>
                        </a:rPr>
                        <a:t>1</a:t>
                      </a:r>
                    </a:p>
                  </a:txBody>
                  <a:tcPr>
                    <a:solidFill>
                      <a:srgbClr val="22335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500" i="0">
                          <a:solidFill>
                            <a:srgbClr val="F5F3EE"/>
                          </a:solidFill>
                          <a:latin typeface="Calibri"/>
                        </a:rPr>
                        <a:t>silencing → no measurable effect on odor coding</a:t>
                      </a:r>
                    </a:p>
                  </a:txBody>
                  <a:tcPr>
                    <a:solidFill>
                      <a:srgbClr val="223352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3977639"/>
            <a:ext cx="10881360" cy="26974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600" i="0">
                <a:solidFill>
                  <a:srgbClr val="7FB2EE"/>
                </a:solidFill>
                <a:latin typeface="Calibri"/>
              </a:rPr>
              <a:t>•  </a:t>
            </a:r>
            <a:r>
              <a:rPr b="0" sz="1600" i="0">
                <a:solidFill>
                  <a:srgbClr val="F5F3EE"/>
                </a:solidFill>
                <a:latin typeface="Calibri"/>
              </a:rPr>
              <a:t>Pre-registered screen with matched controls: my validated types are </a:t>
            </a:r>
            <a:r>
              <a:rPr b="1" sz="1600" i="0">
                <a:solidFill>
                  <a:srgbClr val="F5F3EE"/>
                </a:solidFill>
                <a:latin typeface="Calibri"/>
              </a:rPr>
              <a:t>not</a:t>
            </a:r>
            <a:r>
              <a:rPr b="0" sz="1600" i="0">
                <a:solidFill>
                  <a:srgbClr val="F5F3EE"/>
                </a:solidFill>
                <a:latin typeface="Calibri"/>
              </a:rPr>
              <a:t> better characterized than mid-ranked neurons (2/24 vs 4/27) — and every necessity-grade result sits in the *control* group.</a:t>
            </a:r>
          </a:p>
          <a:p>
            <a:pPr>
              <a:spcAft>
                <a:spcPts val="1000"/>
              </a:spcAft>
            </a:pPr>
            <a:r>
              <a:rPr b="1" sz="1600" i="0">
                <a:solidFill>
                  <a:srgbClr val="7FB2EE"/>
                </a:solidFill>
                <a:latin typeface="Calibri"/>
              </a:rPr>
              <a:t>•  </a:t>
            </a:r>
            <a:r>
              <a:rPr b="1" sz="1600" i="0">
                <a:solidFill>
                  <a:srgbClr val="F5F3EE"/>
                </a:solidFill>
                <a:latin typeface="Calibri"/>
              </a:rPr>
              <a:t>Betweenness ranks traffic. Necessity is a property of populations.</a:t>
            </a:r>
            <a:r>
              <a:rPr b="0" sz="1600" i="0">
                <a:solidFill>
                  <a:srgbClr val="F5F3EE"/>
                </a:solidFill>
                <a:latin typeface="Calibri"/>
              </a:rPr>
              <a:t> T4 cells are individually redundant on any single path — exactly what scores low on betweenness and high on necessity when the whole population is blocked.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92640" y="64465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1100" i="0">
                <a:solidFill>
                  <a:srgbClr val="B9BDC9"/>
                </a:solidFill>
                <a:latin typeface="Consolas"/>
              </a:rPr>
              <a:t>Chokepoint neurons  ·  10 /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 i="0">
                <a:solidFill>
                  <a:srgbClr val="7FB2EE"/>
                </a:solidFill>
                <a:latin typeface="Consolas"/>
              </a:rPr>
              <a:t>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300" i="0">
                <a:solidFill>
                  <a:srgbClr val="F5F3EE"/>
                </a:solidFill>
                <a:latin typeface="Georgia"/>
              </a:rPr>
              <a:t>What I think the story is now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89888"/>
            <a:ext cx="1463040" cy="40640"/>
          </a:xfrm>
          <a:prstGeom prst="rect">
            <a:avLst/>
          </a:prstGeom>
          <a:solidFill>
            <a:srgbClr val="7FB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400" i="0">
                <a:solidFill>
                  <a:srgbClr val="7FB2EE"/>
                </a:solidFill>
                <a:latin typeface="Georgia"/>
              </a:rPr>
              <a:t>structured   </a:t>
            </a:r>
            <a:r>
              <a:rPr b="0" sz="1800" i="0">
                <a:solidFill>
                  <a:srgbClr val="F5F3EE"/>
                </a:solidFill>
                <a:latin typeface="Calibri"/>
              </a:rPr>
              <a:t>The junctions are real: they beat degree-preserving nulls and reproduce across two animals.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7180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400" i="0">
                <a:solidFill>
                  <a:srgbClr val="F08A5C"/>
                </a:solidFill>
                <a:latin typeface="Georgia"/>
              </a:rPr>
              <a:t>but redundant   </a:t>
            </a:r>
            <a:r>
              <a:rPr b="0" sz="1800" i="0">
                <a:solidFill>
                  <a:srgbClr val="F5F3EE"/>
                </a:solidFill>
                <a:latin typeface="Calibri"/>
              </a:rPr>
              <a:t>No single point of failure anywhere — the pathway routes around every deletion.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02336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400" i="0">
                <a:solidFill>
                  <a:srgbClr val="3EC996"/>
                </a:solidFill>
                <a:latin typeface="Georgia"/>
              </a:rPr>
              <a:t>and metric-dependent   </a:t>
            </a:r>
            <a:r>
              <a:rPr b="0" sz="1800" i="0">
                <a:solidFill>
                  <a:srgbClr val="F5F3EE"/>
                </a:solidFill>
                <a:latin typeface="Calibri"/>
              </a:rPr>
              <a:t>Which neurons get called “critical” depends heavily on the metric you choose.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2120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500" i="1">
                <a:solidFill>
                  <a:srgbClr val="B9BDC9"/>
                </a:solidFill>
                <a:latin typeface="Calibri"/>
              </a:rPr>
              <a:t>The proposal's core prediction — remove a bottleneck and information stops — was tested directly and is wrong. I'd rather report that with controls than the reverse without them.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92640" y="64465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1100" i="0">
                <a:solidFill>
                  <a:srgbClr val="B9BDC9"/>
                </a:solidFill>
                <a:latin typeface="Consolas"/>
              </a:rPr>
              <a:t>Chokepoint neurons  ·  11 /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 i="0">
                <a:solidFill>
                  <a:srgbClr val="3EC996"/>
                </a:solidFill>
                <a:latin typeface="Consolas"/>
              </a:rPr>
              <a:t>LOOKING AHEAD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300" i="0">
                <a:solidFill>
                  <a:srgbClr val="F5F3EE"/>
                </a:solidFill>
                <a:latin typeface="Georgia"/>
              </a:rPr>
              <a:t>What's to come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89888"/>
            <a:ext cx="1463040" cy="40640"/>
          </a:xfrm>
          <a:prstGeom prst="rect">
            <a:avLst/>
          </a:prstGeom>
          <a:solidFill>
            <a:srgbClr val="3EC9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000" i="0">
                <a:solidFill>
                  <a:srgbClr val="3EC996"/>
                </a:solidFill>
                <a:latin typeface="Consolas"/>
              </a:rPr>
              <a:t>1.  </a:t>
            </a:r>
            <a:r>
              <a:rPr b="1" sz="1900" i="0">
                <a:solidFill>
                  <a:srgbClr val="F5F3EE"/>
                </a:solidFill>
                <a:latin typeface="Calibri"/>
              </a:rPr>
              <a:t>Final presentation &amp; poster</a:t>
            </a:r>
          </a:p>
          <a:p>
            <a:pPr>
              <a:spcBef>
                <a:spcPts val="200"/>
              </a:spcBef>
            </a:pPr>
            <a:r>
              <a:rPr b="0" sz="1500" i="0">
                <a:solidFill>
                  <a:srgbClr val="B9BDC9"/>
                </a:solidFill>
                <a:latin typeface="Calibri"/>
              </a:rPr>
              <a:t>     Lead with the cross-dataset replication; frame around metric-dependence and structured redundancy. End of August.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98648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000" i="0">
                <a:solidFill>
                  <a:srgbClr val="3EC996"/>
                </a:solidFill>
                <a:latin typeface="Consolas"/>
              </a:rPr>
              <a:t>2.  </a:t>
            </a:r>
            <a:r>
              <a:rPr b="1" sz="1900" i="0">
                <a:solidFill>
                  <a:srgbClr val="F5F3EE"/>
                </a:solidFill>
                <a:latin typeface="Calibri"/>
              </a:rPr>
              <a:t>Third dataset — BANC</a:t>
            </a:r>
          </a:p>
          <a:p>
            <a:pPr>
              <a:spcBef>
                <a:spcPts val="200"/>
              </a:spcBef>
            </a:pPr>
            <a:r>
              <a:rPr b="0" sz="1500" i="0">
                <a:solidFill>
                  <a:srgbClr val="B9BDC9"/>
                </a:solidFill>
                <a:latin typeface="Calibri"/>
              </a:rPr>
              <a:t>     Weighted connections are already public; needs a sensory-class label mapping (~2 days). Would make every headline a three-connectome result.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014216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000" i="0">
                <a:solidFill>
                  <a:srgbClr val="3EC996"/>
                </a:solidFill>
                <a:latin typeface="Consolas"/>
              </a:rPr>
              <a:t>3.  </a:t>
            </a:r>
            <a:r>
              <a:rPr b="1" sz="1900" i="0">
                <a:solidFill>
                  <a:srgbClr val="F5F3EE"/>
                </a:solidFill>
                <a:latin typeface="Calibri"/>
              </a:rPr>
              <a:t>Complete the null replication</a:t>
            </a:r>
          </a:p>
          <a:p>
            <a:pPr>
              <a:spcBef>
                <a:spcPts val="200"/>
              </a:spcBef>
            </a:pPr>
            <a:r>
              <a:rPr b="0" sz="1500" i="0">
                <a:solidFill>
                  <a:srgbClr val="B9BDC9"/>
                </a:solidFill>
                <a:latin typeface="Calibri"/>
              </a:rPr>
              <a:t>     Male-CNS mechanosensory Null B (~6–8 h unattended) finishes the grid.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129784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000" i="0">
                <a:solidFill>
                  <a:srgbClr val="3EC996"/>
                </a:solidFill>
                <a:latin typeface="Consolas"/>
              </a:rPr>
              <a:t>4.  </a:t>
            </a:r>
            <a:r>
              <a:rPr b="1" sz="1900" i="0">
                <a:solidFill>
                  <a:srgbClr val="F5F3EE"/>
                </a:solidFill>
                <a:latin typeface="Calibri"/>
              </a:rPr>
              <a:t>Release the pipeline</a:t>
            </a:r>
          </a:p>
          <a:p>
            <a:pPr>
              <a:spcBef>
                <a:spcPts val="200"/>
              </a:spcBef>
            </a:pPr>
            <a:r>
              <a:rPr b="0" sz="1500" i="0">
                <a:solidFill>
                  <a:srgbClr val="B9BDC9"/>
                </a:solidFill>
                <a:latin typeface="Calibri"/>
              </a:rPr>
              <a:t>     Version-control the 25 scripts with a README — the analysis runs on any pathway subgraph, not just these three.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92640" y="64465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1100" i="0">
                <a:solidFill>
                  <a:srgbClr val="B9BDC9"/>
                </a:solidFill>
                <a:latin typeface="Consolas"/>
              </a:rPr>
              <a:t>Chokepoint neurons  ·  12 /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 i="0">
                <a:solidFill>
                  <a:srgbClr val="B9BDC9"/>
                </a:solidFill>
                <a:latin typeface="Consolas"/>
              </a:rPr>
              <a:t>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300" i="0">
                <a:solidFill>
                  <a:srgbClr val="F5F3EE"/>
                </a:solidFill>
                <a:latin typeface="Georgia"/>
              </a:rPr>
              <a:t>In reserve for questions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89888"/>
            <a:ext cx="1463040" cy="40640"/>
          </a:xfrm>
          <a:prstGeom prst="rect">
            <a:avLst/>
          </a:prstGeom>
          <a:solidFill>
            <a:srgbClr val="B9BD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088136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500" i="0">
                <a:solidFill>
                  <a:srgbClr val="B9BDC9"/>
                </a:solidFill>
                <a:latin typeface="Calibri"/>
              </a:rPr>
              <a:t>•  </a:t>
            </a:r>
            <a:r>
              <a:rPr b="1" sz="1500" i="0">
                <a:solidFill>
                  <a:srgbClr val="F5F3EE"/>
                </a:solidFill>
                <a:latin typeface="Calibri"/>
              </a:rPr>
              <a:t>Null A</a:t>
            </a:r>
            <a:r>
              <a:rPr b="0" sz="1500" i="0">
                <a:solidFill>
                  <a:srgbClr val="F5F3EE"/>
                </a:solidFill>
                <a:latin typeface="Calibri"/>
              </a:rPr>
              <a:t> (weight permutation): real weights displace rankings further than permuted ones, z = +2.6 to +4.5, all pathways.</a:t>
            </a:r>
          </a:p>
          <a:p>
            <a:pPr>
              <a:spcAft>
                <a:spcPts val="1000"/>
              </a:spcAft>
            </a:pPr>
            <a:r>
              <a:rPr b="1" sz="1500" i="0">
                <a:solidFill>
                  <a:srgbClr val="B9BDC9"/>
                </a:solidFill>
                <a:latin typeface="Calibri"/>
              </a:rPr>
              <a:t>•  </a:t>
            </a:r>
            <a:r>
              <a:rPr b="1" sz="1500" i="0">
                <a:solidFill>
                  <a:srgbClr val="F5F3EE"/>
                </a:solidFill>
                <a:latin typeface="Calibri"/>
              </a:rPr>
              <a:t>Cohort sweep:</a:t>
            </a:r>
            <a:r>
              <a:rPr b="0" sz="1500" i="0">
                <a:solidFill>
                  <a:srgbClr val="F5F3EE"/>
                </a:solidFill>
                <a:latin typeface="Calibri"/>
              </a:rPr>
              <a:t> deleting whole cell types is mostly additive (median 1.02–1.14× the sum of single deletions); a small minority (</a:t>
            </a:r>
            <a:r>
              <a:rPr sz="1400" b="0">
                <a:solidFill>
                  <a:srgbClr val="F5F3EE"/>
                </a:solidFill>
                <a:latin typeface="Consolas"/>
              </a:rPr>
              <a:t>VA2_adPN</a:t>
            </a:r>
            <a:r>
              <a:rPr b="0" sz="1500" i="0">
                <a:solidFill>
                  <a:srgbClr val="F5F3EE"/>
                </a:solidFill>
                <a:latin typeface="Calibri"/>
              </a:rPr>
              <a:t>, 3.9×) are genuinely more than their parts.</a:t>
            </a:r>
          </a:p>
          <a:p>
            <a:pPr>
              <a:spcAft>
                <a:spcPts val="1000"/>
              </a:spcAft>
            </a:pPr>
            <a:r>
              <a:rPr b="1" sz="1500" i="0">
                <a:solidFill>
                  <a:srgbClr val="B9BDC9"/>
                </a:solidFill>
                <a:latin typeface="Calibri"/>
              </a:rPr>
              <a:t>•  </a:t>
            </a:r>
            <a:r>
              <a:rPr b="1" sz="1500" i="0">
                <a:solidFill>
                  <a:srgbClr val="F5F3EE"/>
                </a:solidFill>
                <a:latin typeface="Calibri"/>
              </a:rPr>
              <a:t>Current-flow betweenness abandoned:</a:t>
            </a:r>
            <a:r>
              <a:rPr b="0" sz="1500" i="0">
                <a:solidFill>
                  <a:srgbClr val="F5F3EE"/>
                </a:solidFill>
                <a:latin typeface="Calibri"/>
              </a:rPr>
              <a:t> 24 h unfinished on the *smallest* graph, and it requires an undirected graph — signal running backwards from motor to eye.</a:t>
            </a:r>
          </a:p>
          <a:p>
            <a:pPr>
              <a:spcAft>
                <a:spcPts val="1000"/>
              </a:spcAft>
            </a:pPr>
            <a:r>
              <a:rPr b="1" sz="1500" i="0">
                <a:solidFill>
                  <a:srgbClr val="B9BDC9"/>
                </a:solidFill>
                <a:latin typeface="Calibri"/>
              </a:rPr>
              <a:t>•  </a:t>
            </a:r>
            <a:r>
              <a:rPr b="1" sz="1500" i="0">
                <a:solidFill>
                  <a:srgbClr val="F5F3EE"/>
                </a:solidFill>
                <a:latin typeface="Calibri"/>
              </a:rPr>
              <a:t>Motor endpoint (male CNS):</a:t>
            </a:r>
            <a:r>
              <a:rPr b="0" sz="1500" i="0">
                <a:solidFill>
                  <a:srgbClr val="F5F3EE"/>
                </a:solidFill>
                <a:latin typeface="Calibri"/>
              </a:rPr>
              <a:t> at 2 hops only mechanosensory reaches real motor neurons (4,961 sources); olfactory and visual reach essentially none — which retroactively justifies the descending-neuron endpoint.</a:t>
            </a:r>
          </a:p>
          <a:p>
            <a:pPr>
              <a:spcAft>
                <a:spcPts val="1000"/>
              </a:spcAft>
            </a:pPr>
            <a:r>
              <a:rPr b="1" sz="1500" i="0">
                <a:solidFill>
                  <a:srgbClr val="B9BDC9"/>
                </a:solidFill>
                <a:latin typeface="Calibri"/>
              </a:rPr>
              <a:t>•  </a:t>
            </a:r>
            <a:r>
              <a:rPr b="1" sz="1500" i="0">
                <a:solidFill>
                  <a:srgbClr val="F5F3EE"/>
                </a:solidFill>
                <a:latin typeface="Calibri"/>
              </a:rPr>
              <a:t>Corrected-claims log:</a:t>
            </a:r>
            <a:r>
              <a:rPr b="0" sz="1500" i="0">
                <a:solidFill>
                  <a:srgbClr val="F5F3EE"/>
                </a:solidFill>
                <a:latin typeface="Calibri"/>
              </a:rPr>
              <a:t> DNp32 (unweighted artifact) · “zero pairs cut” (endpoint-scoring artifact) · 11× cohort claim (size vs. coherence confound) — each caught by the next control.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