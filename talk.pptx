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400" i="0">
                <a:solidFill>
                  <a:srgbClr val="F5F3EE"/>
                </a:solidFill>
                <a:latin typeface="Georgia"/>
              </a:rPr>
              <a:t>Where does the fly's sensory traffic squeeze through —
and does anything break if you cut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 i="0">
                <a:solidFill>
                  <a:srgbClr val="7FB2EE"/>
                </a:solidFill>
                <a:latin typeface="Calibri"/>
              </a:rPr>
              <a:t>Chokepoint neurons across sensory pathways in the FlyWire connectome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10698480" cy="1417320"/>
          </a:xfrm>
          <a:prstGeom prst="roundRect">
            <a:avLst>
              <a:gd name="adj" fmla="val 6000"/>
            </a:avLst>
          </a:prstGeom>
          <a:solidFill>
            <a:srgbClr val="2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 i="0">
                <a:solidFill>
                  <a:srgbClr val="F08A5C"/>
                </a:solidFill>
                <a:latin typeface="Calibri"/>
              </a:rPr>
              <a:t>Question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For smell, touch and vision: which neurons carry the strongest routes from sensory input to the descending (motor-command) neurons — are any shared across senses — and is the circuit actually *dependent* on them?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B9BDC9"/>
                </a:solidFill>
                <a:latin typeface="Calibri"/>
              </a:rPr>
              <a:t>Pranav Voleti · FlyWire Summer Internship 2026 · Project 7 · FAFB v783 (139k neurons, 2.7M weighted connections) + MaleCNS v0.9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Chokepoint neurons across sensory pathways · FlyWire FAFB v783 + MCNS v0.9 ·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F08A5C"/>
                </a:solidFill>
                <a:latin typeface="Calibri"/>
              </a:rP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F5F3EE"/>
                </a:solidFill>
                <a:latin typeface="Georgia"/>
              </a:rPr>
              <a:t>Each sense has its own chokepoints — and no single point of failure</a:t>
            </a:r>
          </a:p>
        </p:txBody>
      </p:sp>
      <p:pic>
        <p:nvPicPr>
          <p:cNvPr id="4" name="Picture 3" descr="talk_fig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572768"/>
            <a:ext cx="9875520" cy="20989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3803904"/>
            <a:ext cx="4069080" cy="1554480"/>
          </a:xfrm>
          <a:prstGeom prst="roundRect">
            <a:avLst>
              <a:gd name="adj" fmla="val 6000"/>
            </a:avLst>
          </a:prstGeom>
          <a:solidFill>
            <a:srgbClr val="2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13632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7FB2EE"/>
                </a:solidFill>
                <a:latin typeface="Calibri"/>
              </a:rPr>
              <a:t>1 · Where anatomy says they should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06824"/>
            <a:ext cx="3703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Smell → antennal-lobe interneurons</a:t>
            </a:r>
          </a:p>
          <a:p>
            <a:pPr>
              <a:spcAft>
                <a:spcPts val="4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Touch → gnathal-ganglion descenders</a:t>
            </a:r>
          </a:p>
          <a:p>
            <a:pPr>
              <a:spcAft>
                <a:spcPts val="4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Vision → lobula-plate wide-field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803904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2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39136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3EC996"/>
                </a:solidFill>
                <a:latin typeface="Calibri"/>
              </a:rPr>
              <a:t>2 · Conserved in a 2nd brain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306824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 i="0">
                <a:solidFill>
                  <a:srgbClr val="F5F3EE"/>
                </a:solidFill>
                <a:latin typeface="Calibri"/>
              </a:rPr>
              <a:t>9 / 12 / 13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of 25 top types recur in the male CNS</a:t>
            </a:r>
          </a:p>
          <a:p>
            <a:pPr>
              <a:spcAft>
                <a:spcPts val="4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…but so does synapse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803904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22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F08A5C"/>
                </a:solidFill>
                <a:latin typeface="Calibri"/>
              </a:rPr>
              <a:t>3 · None is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306824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Delete any one: routes lengthen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0.3–0.6 %</a:t>
            </a:r>
          </a:p>
          <a:p>
            <a:pPr>
              <a:spcAft>
                <a:spcPts val="4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Nothing disconnects a 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223352"/>
          </a:solidFill>
          <a:ln w="19050">
            <a:solidFill>
              <a:srgbClr val="F0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 i="0">
                <a:solidFill>
                  <a:srgbClr val="F08A5C"/>
                </a:solidFill>
                <a:latin typeface="Calibri"/>
              </a:rPr>
              <a:t>Structured but redundant  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— conserved junctions carry the traffic, but every one has a parallel route.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Chokepoint neurons across sensory pathways · FlyWire FAFB v783 + MCNS v0.9 ·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7FB2EE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F5F3EE"/>
                </a:solidFill>
                <a:latin typeface="Georgia"/>
              </a:rPr>
              <a:t>Rank the neurons on the strongest routes — then try hard to break the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66160" cy="3520440"/>
          </a:xfrm>
          <a:prstGeom prst="roundRect">
            <a:avLst>
              <a:gd name="adj" fmla="val 6000"/>
            </a:avLst>
          </a:prstGeom>
          <a:solidFill>
            <a:srgbClr val="223352"/>
          </a:solidFill>
          <a:ln w="19050">
            <a:solidFill>
              <a:srgbClr val="7FB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01368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 i="0">
                <a:solidFill>
                  <a:srgbClr val="7FB2EE"/>
                </a:solidFill>
                <a:latin typeface="Calibri"/>
              </a:rPr>
              <a:t>1  Build &amp;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95728"/>
            <a:ext cx="316382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One graph per sense: every neuron ≤2 synapses from a sensory input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and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≤2 from a descending neuron</a:t>
            </a:r>
          </a:p>
          <a:p>
            <a:pPr>
              <a:spcAft>
                <a:spcPts val="12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Rank by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synapse-weighted betweenness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on sensory→descending paths — high score = sits on the strong 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3944" y="3154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3000" i="0">
                <a:solidFill>
                  <a:srgbClr val="B9BDC9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91640"/>
            <a:ext cx="3566160" cy="3520440"/>
          </a:xfrm>
          <a:prstGeom prst="roundRect">
            <a:avLst>
              <a:gd name="adj" fmla="val 6000"/>
            </a:avLst>
          </a:prstGeom>
          <a:solidFill>
            <a:srgbClr val="223352"/>
          </a:solidFill>
          <a:ln w="19050">
            <a:solidFill>
              <a:srgbClr val="F0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01368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 i="0">
                <a:solidFill>
                  <a:srgbClr val="F08A5C"/>
                </a:solidFill>
                <a:latin typeface="Calibri"/>
              </a:rPr>
              <a:t>2  Test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95728"/>
            <a:ext cx="316382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Shuffle the wiring but keep every neuron's exact degree: is the rank just connection count?</a:t>
            </a:r>
          </a:p>
          <a:p>
            <a:pPr>
              <a:spcAft>
                <a:spcPts val="1200"/>
              </a:spcAft>
            </a:pPr>
            <a:r>
              <a:rPr b="1" sz="1600" i="0">
                <a:solidFill>
                  <a:srgbClr val="F5F3EE"/>
                </a:solidFill>
                <a:latin typeface="Calibri"/>
              </a:rPr>
              <a:t>And control the test itself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— run it on a structureless graph to see how many 'survivors' pure selection invents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3154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3000" i="0">
                <a:solidFill>
                  <a:srgbClr val="B9BDC9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691640"/>
            <a:ext cx="3566160" cy="3520440"/>
          </a:xfrm>
          <a:prstGeom prst="roundRect">
            <a:avLst>
              <a:gd name="adj" fmla="val 6000"/>
            </a:avLst>
          </a:prstGeom>
          <a:solidFill>
            <a:srgbClr val="223352"/>
          </a:solidFill>
          <a:ln w="19050">
            <a:solidFill>
              <a:srgbClr val="3EC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801368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 i="0">
                <a:solidFill>
                  <a:srgbClr val="3EC996"/>
                </a:solidFill>
                <a:latin typeface="Calibri"/>
              </a:rPr>
              <a:t>3  Break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395728"/>
            <a:ext cx="316382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Delete each bottleneck, re-solve every sensory→motor route: how much longer, how many pairs cut?</a:t>
            </a:r>
          </a:p>
          <a:p>
            <a:pPr>
              <a:spcAft>
                <a:spcPts val="12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Then rebuild the whole study on a second connectome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 i="0">
                <a:solidFill>
                  <a:srgbClr val="B9BDC9"/>
                </a:solidFill>
                <a:latin typeface="Calibri"/>
              </a:rPr>
              <a:t>4 pathway graphs · ~1,000 betweenness evaluations for the nulls · 2 connectomes · </a:t>
            </a:r>
            <a:r>
              <a:rPr b="0" sz="1400" i="0">
                <a:solidFill>
                  <a:srgbClr val="B9BDC9"/>
                </a:solidFill>
                <a:latin typeface="Consolas"/>
              </a:rPr>
              <a:t>networkx</a:t>
            </a:r>
            <a:r>
              <a:rPr b="0" sz="1400" i="0">
                <a:solidFill>
                  <a:srgbClr val="B9BDC9"/>
                </a:solidFill>
                <a:latin typeface="Calibri"/>
              </a:rPr>
              <a:t> / </a:t>
            </a:r>
            <a:r>
              <a:rPr b="0" sz="1400" i="0">
                <a:solidFill>
                  <a:srgbClr val="B9BDC9"/>
                </a:solidFill>
                <a:latin typeface="Consolas"/>
              </a:rPr>
              <a:t>scipy</a:t>
            </a:r>
            <a:r>
              <a:rPr b="0" sz="1400" i="0">
                <a:solidFill>
                  <a:srgbClr val="B9BDC9"/>
                </a:solidFill>
                <a:latin typeface="Calibri"/>
              </a:rPr>
              <a:t>, reproducible end to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Chokepoint neurons across sensory pathways · FlyWire FAFB v783 + MCNS v0.9 ·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3EC996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F5F3EE"/>
                </a:solidFill>
                <a:latin typeface="Georgia"/>
              </a:rPr>
              <a:t>Positioned, replicated — but redundant</a:t>
            </a:r>
          </a:p>
        </p:txBody>
      </p:sp>
      <p:pic>
        <p:nvPicPr>
          <p:cNvPr id="4" name="Picture 3" descr="talk_fig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315200" cy="3072121"/>
          </a:xfrm>
          <a:prstGeom prst="rect">
            <a:avLst/>
          </a:prstGeom>
        </p:spPr>
      </p:pic>
      <p:pic>
        <p:nvPicPr>
          <p:cNvPr id="5" name="Picture 4" descr="talk_fig_de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72768"/>
            <a:ext cx="3794760" cy="1903691"/>
          </a:xfrm>
          <a:prstGeom prst="rect">
            <a:avLst/>
          </a:prstGeom>
        </p:spPr>
      </p:pic>
      <p:pic>
        <p:nvPicPr>
          <p:cNvPr id="6" name="Picture 5" descr="talk_fig_repl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3767328"/>
            <a:ext cx="3429000" cy="23367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0916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 i="0">
                <a:solidFill>
                  <a:srgbClr val="F5F3EE"/>
                </a:solidFill>
                <a:latin typeface="Calibri"/>
              </a:rPr>
              <a:t>Dotted line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= the highest score pure selection can invent, measured by running the whole test on a structureless graph.</a:t>
            </a:r>
          </a:p>
          <a:p>
            <a:pPr>
              <a:spcAft>
                <a:spcPts val="9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Only neurons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above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it are positioned beyond doubt: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15 olfactory, 2 mechanosensory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Chokepoint neurons across sensory pathways · FlyWire FAFB v783 + MCNS v0.9 ·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F08A5C"/>
                </a:solidFill>
                <a:latin typeface="Calibr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F5F3EE"/>
                </a:solidFill>
                <a:latin typeface="Georgia"/>
              </a:rPr>
              <a:t>What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 i="0">
                <a:solidFill>
                  <a:srgbClr val="F5F3EE"/>
                </a:solidFill>
                <a:latin typeface="Calibri"/>
              </a:rPr>
              <a:t>Conserved chokepoints, no single point of failure.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Weighted betweenness finds anatomically sensible bottlenecks in each sense that replicate across two animals — and deleting any one barely matters.</a:t>
            </a:r>
          </a:p>
          <a:p>
            <a:pPr>
              <a:spcAft>
                <a:spcPts val="1400"/>
              </a:spcAft>
            </a:pPr>
            <a:r>
              <a:rPr b="1" sz="1800" i="0">
                <a:solidFill>
                  <a:srgbClr val="F5F3EE"/>
                </a:solidFill>
                <a:latin typeface="Calibri"/>
              </a:rPr>
              <a:t>“Critical” depends on the question.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Traffic (betweenness) ≠ necessity (deletion) ≠ conserved identity (replication). All three are measured here; they disagree in instructive ways.</a:t>
            </a:r>
          </a:p>
          <a:p>
            <a:pPr>
              <a:spcAft>
                <a:spcPts val="1400"/>
              </a:spcAft>
            </a:pPr>
            <a:r>
              <a:rPr b="1" sz="1800" i="0">
                <a:solidFill>
                  <a:srgbClr val="F5F3EE"/>
                </a:solidFill>
                <a:latin typeface="Calibri"/>
              </a:rPr>
              <a:t>Two self-corrections along the way:</a:t>
            </a:r>
            <a:r>
              <a:rPr b="0" sz="1800" i="0">
                <a:solidFill>
                  <a:srgbClr val="F5F3EE"/>
                </a:solidFill>
                <a:latin typeface="Calibri"/>
              </a:rPr>
              <a:t> (i) the first “visual” pathway was really the *ocellar* reflex arc — rebuilt with lamina/medulla inputs; (ii) the degree null over-counted survivors by a winner's-curse of 16–34/50 — now controlled.</a:t>
            </a:r>
          </a:p>
          <a:p>
            <a:pPr>
              <a:spcAft>
                <a:spcPts val="1400"/>
              </a:spcAft>
            </a:pPr>
            <a:r>
              <a:rPr b="1" sz="1800" i="0">
                <a:solidFill>
                  <a:srgbClr val="B9BDC9"/>
                </a:solidFill>
                <a:latin typeface="Calibri"/>
              </a:rPr>
              <a:t>Next:</a:t>
            </a:r>
            <a:r>
              <a:rPr b="0" sz="1800" i="0">
                <a:solidFill>
                  <a:srgbClr val="B9BDC9"/>
                </a:solidFill>
                <a:latin typeface="Calibri"/>
              </a:rPr>
              <a:t> whole-population deletions (where necessity lives — T4/Mi9 are rank-1000 here yet behaviourally essential), and a third connectome (BANC).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1208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223352"/>
          </a:solidFill>
          <a:ln w="19050">
            <a:solidFill>
              <a:srgbClr val="F0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F08A5C"/>
                </a:solidFill>
                <a:latin typeface="Calibri"/>
              </a:rPr>
              <a:t>Elevator pitch  </a:t>
            </a:r>
            <a:r>
              <a:rPr b="0" sz="1500" i="1">
                <a:solidFill>
                  <a:srgbClr val="F5F3EE"/>
                </a:solidFill>
                <a:latin typeface="Calibri"/>
              </a:rPr>
              <a:t>This project maps where smell, touch and vision funnel toward the fly's motor system in two whole-brain connectomes, and finds conserved chokepoint neurons that carry the traffic but — because every one has a parallel route — none the circuit cannot live without.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Chokepoint neurons across sensory pathways · FlyWire FAFB v783 + MCNS v0.9 · 5/5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B9BDC9"/>
                </a:solidFill>
                <a:latin typeface="Calibri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F5F3EE"/>
                </a:solidFill>
                <a:latin typeface="Georgia"/>
              </a:rPr>
              <a:t>Pathway definitions and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Graph: Codex FAFB v783 connections, ≥5 synapses per pair → 134k neurons, 2.70M edges; MCNS v0.9 → 6.24M edges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Targets: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super_class ∈ {descending, motor}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. Sources: olfactory = ORNs (1,765 in graph); mechanosensory = JO/mechanosensory afferents (1,675); visual = Lamina Monopolar + Transmedullary + Medulla Intrinsic families (17,004); ocellar = ocellar photoreceptors (142)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Subgraph: ≤2 hops from a source AND ≤2 hops to a target. Olf 8.7k nodes/163k edges · Mech 13.6k/373k · Visual 60.5k/1.23M (sampled-source betweenness, 500 seeds) · Ocellar 386/2.1k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Correction: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original “visual” =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class == visual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(photoreceptors); 142/146 surviving sources were ocellar, and the 24k-node graph hung off 4 compound-eye PRs. Renamed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ocellar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; spec-compliant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visual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rebuilt. MCNS has no ocellar PRs, so the earlier visual replication was withdrawn and re-done like-for-like.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Ocellar on its own: 112 neurons with nonzero betweenness; Null B 13/50 vs a selection floor of 2.8/50; OCG01 cells at z≈0 → degree-driven reflex arc, not a positional-bottleneck pathway.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Backup B1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B9BDC9"/>
                </a:solidFill>
                <a:latin typeface="Calibri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F5F3EE"/>
                </a:solidFill>
                <a:latin typeface="Georgia"/>
              </a:rPr>
              <a:t>Null B — degree-preserving null and its selection-bias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Directed double-edge swap, 5×|E| attempts, preserves in-degree, out-degree, out-synapse total; 200 trials (olf/mech/ocellar), 30 (visual); 100 sampled sources; BH-FDR on p_z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FDR survivors (top-50 / top-25): olfactory 37/20 · mechanosensory 43/20 · visual 29/16 · ocellar 13/12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Control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: treat one shuffle as data, take *its* top-50, test vs further shuffles (3 pseudo-real × 50 trials). False-positive floor: olfactory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16.0 ± 0.8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, mechanosensory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34.0 ± 2.2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, ocellar 2.8 ± 3.4; max z manufactured by selection alone: 9.9 / 23.4 / 3.4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Above that ceiling: olfactory 15/50 (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MZ_lv2PN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z=35,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VES079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23,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AL-AST1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21,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lLN2T_c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17,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v2LN30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13 …); mechanosensory 2/50 (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DNge132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31,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CB0021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23); visual control not run (≈6 h) — likely survivors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PS124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z=15,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AVLP435a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8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Null A (weight permutation, 50 trials): real weights displace the ranking more than permuted weights in olf/mech/legacy-visual (z 2.6–4.5); fails in ocellar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Backup B2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B9BDC9"/>
                </a:solidFill>
                <a:latin typeface="Calibri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F5F3EE"/>
                </a:solidFill>
                <a:latin typeface="Georgia"/>
              </a:rPr>
              <a:t>Deletion test, cell-type cohorts, and the cross-modal six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Single deletion, 100 sources × all targets, damage scored only over pairs whose own endpoints survive: top-50 mean detour 0.37 % (olf), 0.34 % (mech), visual see talk fig; rank-1000+ ≈ 0.000 %; MCNS 0.35 / 0.06 %. Max single-neuron effect ≈ 4 % (legacy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CB3916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)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A few FAFB deletions sever *whole sensory sources* (cut counts = multiples of the target count) — peripheral single-gateway cells, FAFB-only so far (0/45 in MCNS)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Whole cell types: nearly all superadditive but barely (median 1.02–1.14×); 14/75 beat size- and rank-matched random sets at z&gt;2. Standouts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VA2_adPN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(3.9×, z=+20),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OCG02b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lLN2T_c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(1.7×)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Cross-modal six: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PVLP076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(olf+mech),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AVLP080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×2,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CB0677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PS124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(mech+vis), 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CB0676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(mech+ocellar). None in three. Legacy five all failed the deletion test (z −0.8…+0.9 vs ordinary top-50 controls)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Backup B3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B9BDC9"/>
                </a:solidFill>
                <a:latin typeface="Calibri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F5F3EE"/>
                </a:solidFill>
                <a:latin typeface="Georgia"/>
              </a:rPr>
              <a:t>Metric dependence and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Betweenness vs total synapse count top-50 overlap: olfactory 23/50, legacy-visual 26/50,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mechanosensory 6/50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(chance ≈ 0.3) — two pathways are largely degree-recoverable; mechanosensory is the one that needed the metric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Flow metrics (Bates et al. 2025 influence; probabilistic traversal) agree with each other (ρ 0.77–0.89) and not with betweenness (ρ ≈ 0 – 0.3): *path* vs *flow* definitions of importance pick different neurons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Current-flow betweenness: infeasible (24 h, no result on the smallest graph) and requires symmetrising the graph — reported as a negative feasibility result</a:t>
            </a:r>
          </a:p>
          <a:p>
            <a:pPr>
              <a:spcAft>
                <a:spcPts val="1100"/>
              </a:spcAft>
            </a:pPr>
            <a:r>
              <a:rPr b="0" sz="1600" i="0">
                <a:solidFill>
                  <a:srgbClr val="F5F3EE"/>
                </a:solidFill>
                <a:latin typeface="Calibri"/>
              </a:rPr>
              <a:t>• Pre-registered literature screen (validated types vs rank-1000–2000 controls): 2/24 vs 4/27 named types with functional evidence; all *necessity* evidence (T4, Mi9 → motion-blind) is in the </a:t>
            </a:r>
            <a:r>
              <a:rPr b="1" sz="1600" i="0">
                <a:solidFill>
                  <a:srgbClr val="F5F3EE"/>
                </a:solidFill>
                <a:latin typeface="Calibri"/>
              </a:rPr>
              <a:t>control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arm; the one validated type tested by silencing (</a:t>
            </a:r>
            <a:r>
              <a:rPr b="0" sz="1600" i="0">
                <a:solidFill>
                  <a:srgbClr val="F5F3EE"/>
                </a:solidFill>
                <a:latin typeface="Consolas"/>
              </a:rPr>
              <a:t>lLN2T_c</a:t>
            </a:r>
            <a:r>
              <a:rPr b="0" sz="1600" i="0">
                <a:solidFill>
                  <a:srgbClr val="F5F3EE"/>
                </a:solidFill>
                <a:latin typeface="Calibri"/>
              </a:rPr>
              <a:t> / LN2) showed no effect on odour coding — consistent with the deletion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Backup B4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B9BDC9"/>
                </a:solidFill>
                <a:latin typeface="Calibri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 i="0">
                <a:solidFill>
                  <a:srgbClr val="F5F3EE"/>
                </a:solidFill>
                <a:latin typeface="Georgia"/>
              </a:rPr>
              <a:t>Replication detail (FAFB vs MaleCNS, 150 sampled sources each, cell-type max)</a:t>
            </a:r>
          </a:p>
        </p:txBody>
      </p:sp>
      <p:pic>
        <p:nvPicPr>
          <p:cNvPr id="4" name="Picture 3" descr="talk_fig_re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501497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6916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0" sz="1400" i="0">
                <a:solidFill>
                  <a:srgbClr val="F5F3EE"/>
                </a:solidFill>
                <a:latin typeface="Calibri"/>
              </a:rPr>
              <a:t>• Olfactory 9/25 (exp 0.52, p 2e-10), ρ 0.67 all / 0.54 nonzero-in-both (n=157):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lLN2T_c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v2LN30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il3LN6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MZ_lv2PN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AL-AST1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DM1_lPN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PLP096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PVLP076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lLN2F_b</a:t>
            </a:r>
          </a:p>
          <a:p>
            <a:pPr>
              <a:spcAft>
                <a:spcPts val="900"/>
              </a:spcAft>
            </a:pPr>
            <a:r>
              <a:rPr b="0" sz="1400" i="0">
                <a:solidFill>
                  <a:srgbClr val="F5F3EE"/>
                </a:solidFill>
                <a:latin typeface="Calibri"/>
              </a:rPr>
              <a:t>• Mechanosensory 12/25 (exp 0.28), ρ 0.71 / 0.56 (639):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DNg62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DNge132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DNge027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DNg35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DNg16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DNg100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DNp35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AVLP080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AVLP340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PS100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PS124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PVLP076</a:t>
            </a:r>
          </a:p>
          <a:p>
            <a:pPr>
              <a:spcAft>
                <a:spcPts val="900"/>
              </a:spcAft>
            </a:pPr>
            <a:r>
              <a:rPr b="0" sz="1400" i="0">
                <a:solidFill>
                  <a:srgbClr val="F5F3EE"/>
                </a:solidFill>
                <a:latin typeface="Calibri"/>
              </a:rPr>
              <a:t>• Visual 13/25 (exp 0.27), ρ 0.70 / 0.60 (548):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Am1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H2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LPT26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LT11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LT1c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LT62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LT79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Li32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Li33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PVLP011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PVLP061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AVLP080</a:t>
            </a:r>
            <a:r>
              <a:rPr b="0" sz="1400" i="0">
                <a:solidFill>
                  <a:srgbClr val="F5F3EE"/>
                </a:solidFill>
                <a:latin typeface="Calibri"/>
              </a:rPr>
              <a:t>, </a:t>
            </a:r>
            <a:r>
              <a:rPr b="0" sz="1400" i="0">
                <a:solidFill>
                  <a:srgbClr val="F5F3EE"/>
                </a:solidFill>
                <a:latin typeface="Consolas"/>
              </a:rPr>
              <a:t>PS124</a:t>
            </a:r>
          </a:p>
          <a:p>
            <a:pPr>
              <a:spcAft>
                <a:spcPts val="900"/>
              </a:spcAft>
            </a:pPr>
            <a:r>
              <a:rPr b="0" sz="1400" i="0">
                <a:solidFill>
                  <a:srgbClr val="F5F3EE"/>
                </a:solidFill>
                <a:latin typeface="Calibri"/>
              </a:rPr>
              <a:t>• Degree baseline: 20 / 18 / 19 of 25, ρ 0.90 / 0.86 / 0.91 — replication shows the pathway is conserved, not that betweenness adds conserved information</a:t>
            </a:r>
          </a:p>
          <a:p>
            <a:pPr>
              <a:spcAft>
                <a:spcPts val="900"/>
              </a:spcAft>
            </a:pPr>
            <a:r>
              <a:rPr b="0" sz="1400" i="0">
                <a:solidFill>
                  <a:srgbClr val="F5F3EE"/>
                </a:solidFill>
                <a:latin typeface="Calibri"/>
              </a:rPr>
              <a:t>• Only mechanosensory reaches VNC motor neurons within 2+2 hops in MCNS (696 targets); olfactory/visual reach 1 / 0 — justifies the descending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B9BDC9"/>
                </a:solidFill>
                <a:latin typeface="Calibri"/>
              </a:rPr>
              <a:t>Backup B5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