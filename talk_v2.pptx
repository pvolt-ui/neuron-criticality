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F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EF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 i="0">
                <a:solidFill>
                  <a:srgbClr val="EFC96B"/>
                </a:solidFill>
                <a:latin typeface="Calibri"/>
              </a:rPr>
              <a:t>FLYWIRE SUMMER INTERNSHIP 2026 · PROJECT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 i="0">
                <a:solidFill>
                  <a:srgbClr val="F7F5F0"/>
                </a:solidFill>
                <a:latin typeface="Georgia"/>
              </a:rPr>
              <a:t>Where does the fly's sensory traffic
squeeze through — and does anything
break if you cut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900" i="0">
                <a:solidFill>
                  <a:srgbClr val="8AB8F0"/>
                </a:solidFill>
                <a:latin typeface="Calibri"/>
              </a:rPr>
              <a:t>Chokepoint neurons on the sensory→motor pathways of two whole-brain connectomes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8AB8F0"/>
                </a:solidFill>
                <a:latin typeface="Georgia"/>
              </a:rPr>
              <a:t>139k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846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AA3B5"/>
                </a:solidFill>
                <a:latin typeface="Calibri"/>
              </a:rPr>
              <a:t>neurons · FAFB v783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4434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8AB8F0"/>
                </a:solidFill>
                <a:latin typeface="Georgia"/>
              </a:rPr>
              <a:t>2.7M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51846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AA3B5"/>
                </a:solidFill>
                <a:latin typeface="Calibri"/>
              </a:rPr>
              <a:t>weighted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43484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F59E6C"/>
                </a:solidFill>
                <a:latin typeface="Georg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184648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AA3B5"/>
                </a:solidFill>
                <a:latin typeface="Calibri"/>
              </a:rPr>
              <a:t>senses: smell · touch · 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4348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400" i="0">
                <a:solidFill>
                  <a:srgbClr val="52D2A4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518464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AA3B5"/>
                </a:solidFill>
                <a:latin typeface="Calibri"/>
              </a:rPr>
              <a:t>connectomes: FlyWire + male CNS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300" i="0">
                <a:solidFill>
                  <a:srgbClr val="9AA3B5"/>
                </a:solidFill>
                <a:latin typeface="Calibri"/>
              </a:rPr>
              <a:t>Pranav Voleti · Princeton Neuroscience Institute symposium ·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AA3B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AA3B5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F5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F5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F59E6C"/>
                </a:solidFill>
                <a:latin typeface="Calibri"/>
              </a:rPr>
              <a:t>MAIN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F7F5F0"/>
                </a:solidFill>
                <a:latin typeface="Georgia"/>
              </a:rPr>
              <a:t>Each sense has its own chokepoints — and no single point of failure</a:t>
            </a:r>
          </a:p>
        </p:txBody>
      </p:sp>
      <p:pic>
        <p:nvPicPr>
          <p:cNvPr id="6" name="Picture 5" descr="talk_fig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1481328"/>
            <a:ext cx="9875520" cy="20989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749039"/>
            <a:ext cx="4069080" cy="1627632"/>
          </a:xfrm>
          <a:prstGeom prst="roundRect">
            <a:avLst>
              <a:gd name="adj" fmla="val 4500"/>
            </a:avLst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877055"/>
            <a:ext cx="45720" cy="1371600"/>
          </a:xfrm>
          <a:prstGeom prst="rect">
            <a:avLst/>
          </a:prstGeom>
          <a:solidFill>
            <a:srgbClr val="8A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3858767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8AB8F0"/>
                </a:solidFill>
                <a:latin typeface="Calibri"/>
              </a:rPr>
              <a:t>1 · Where anatomy predicts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251959"/>
            <a:ext cx="370332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500" i="0">
                <a:solidFill>
                  <a:srgbClr val="F7F5F0"/>
                </a:solidFill>
                <a:latin typeface="Calibri"/>
              </a:rPr>
              <a:t>Smell → antennal-lobe interneurons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F7F5F0"/>
                </a:solidFill>
                <a:latin typeface="Calibri"/>
              </a:rPr>
              <a:t>Touch → gnathal-ganglion descenders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F7F5F0"/>
                </a:solidFill>
                <a:latin typeface="Calibri"/>
              </a:rPr>
              <a:t>Vision → lobula-plate wide-field cells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3749039"/>
            <a:ext cx="3474720" cy="1627632"/>
          </a:xfrm>
          <a:prstGeom prst="roundRect">
            <a:avLst>
              <a:gd name="adj" fmla="val 4500"/>
            </a:avLst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3877055"/>
            <a:ext cx="45720" cy="1371600"/>
          </a:xfrm>
          <a:prstGeom prst="rect">
            <a:avLst/>
          </a:prstGeom>
          <a:solidFill>
            <a:srgbClr val="52D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3858767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52D2A4"/>
                </a:solidFill>
                <a:latin typeface="Calibri"/>
              </a:rPr>
              <a:t>2 · Conserved in a 2nd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4251959"/>
            <a:ext cx="310896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1" sz="1500" i="0">
                <a:solidFill>
                  <a:srgbClr val="F7F5F0"/>
                </a:solidFill>
                <a:latin typeface="Calibri"/>
              </a:rPr>
              <a:t>9 / 12 / 13</a:t>
            </a:r>
            <a:r>
              <a:rPr b="0" sz="1500" i="0">
                <a:solidFill>
                  <a:srgbClr val="F7F5F0"/>
                </a:solidFill>
                <a:latin typeface="Calibri"/>
              </a:rPr>
              <a:t> of top-25 types recur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F7F5F0"/>
                </a:solidFill>
                <a:latin typeface="Calibri"/>
              </a:rPr>
              <a:t>chance expectation: </a:t>
            </a:r>
            <a:r>
              <a:rPr b="1" sz="1500" i="0">
                <a:solidFill>
                  <a:srgbClr val="F7F5F0"/>
                </a:solidFill>
                <a:latin typeface="Calibri"/>
              </a:rPr>
              <a:t>&lt;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3749039"/>
            <a:ext cx="3291840" cy="1627632"/>
          </a:xfrm>
          <a:prstGeom prst="roundRect">
            <a:avLst>
              <a:gd name="adj" fmla="val 4500"/>
            </a:avLst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3877055"/>
            <a:ext cx="45720" cy="1371600"/>
          </a:xfrm>
          <a:prstGeom prst="rect">
            <a:avLst/>
          </a:prstGeom>
          <a:solidFill>
            <a:srgbClr val="F5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67928" y="385876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 i="0">
                <a:solidFill>
                  <a:srgbClr val="F59E6C"/>
                </a:solidFill>
                <a:latin typeface="Calibri"/>
              </a:rPr>
              <a:t>3 · None is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4251959"/>
            <a:ext cx="29260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b="0" sz="1500" i="0">
                <a:solidFill>
                  <a:srgbClr val="F7F5F0"/>
                </a:solidFill>
                <a:latin typeface="Calibri"/>
              </a:rPr>
              <a:t>delete any one → routes lengthen</a:t>
            </a:r>
          </a:p>
          <a:p>
            <a:pPr>
              <a:spcAft>
                <a:spcPts val="500"/>
              </a:spcAft>
            </a:pPr>
            <a:r>
              <a:rPr b="0" sz="1500" i="0">
                <a:solidFill>
                  <a:srgbClr val="F7F5F0"/>
                </a:solidFill>
                <a:latin typeface="Calibri"/>
              </a:rPr>
              <a:t>just </a:t>
            </a:r>
            <a:r>
              <a:rPr b="1" sz="1500" i="0">
                <a:solidFill>
                  <a:srgbClr val="F7F5F0"/>
                </a:solidFill>
                <a:latin typeface="Calibri"/>
              </a:rPr>
              <a:t>~0.5 %</a:t>
            </a:r>
            <a:r>
              <a:rPr b="0" sz="1500" i="0">
                <a:solidFill>
                  <a:srgbClr val="F7F5F0"/>
                </a:solidFill>
                <a:latin typeface="Calibri"/>
              </a:rPr>
              <a:t> · nothing disconnects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04688"/>
            <a:ext cx="11109960" cy="804672"/>
          </a:xfrm>
          <a:prstGeom prst="roundRect">
            <a:avLst>
              <a:gd name="adj" fmla="val 4500"/>
            </a:avLst>
          </a:prstGeom>
          <a:solidFill>
            <a:srgbClr val="24314E"/>
          </a:solidFill>
          <a:ln w="15875">
            <a:solidFill>
              <a:srgbClr val="F59E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59612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800" i="0">
                <a:solidFill>
                  <a:srgbClr val="F59E6C"/>
                </a:solidFill>
                <a:latin typeface="Calibri"/>
              </a:rPr>
              <a:t>Structured but redundant </a:t>
            </a:r>
            <a:r>
              <a:rPr b="0" sz="1800" i="0">
                <a:solidFill>
                  <a:srgbClr val="F7F5F0"/>
                </a:solidFill>
                <a:latin typeface="Calibri"/>
              </a:rPr>
              <a:t> — conserved junctions carry the traffic, but every one has a parallel route.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AA3B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AA3B5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8A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8A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8AB8F0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F7F5F0"/>
                </a:solidFill>
                <a:latin typeface="Georgia"/>
              </a:rPr>
              <a:t>Rank the neurons on the strongest routes — then try hard to break the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84448" cy="3429000"/>
          </a:xfrm>
          <a:prstGeom prst="roundRect">
            <a:avLst>
              <a:gd name="adj" fmla="val 4500"/>
            </a:avLst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84448" cy="82296"/>
          </a:xfrm>
          <a:prstGeom prst="rect">
            <a:avLst/>
          </a:prstGeom>
          <a:solidFill>
            <a:srgbClr val="8AB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874519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i="0">
                <a:solidFill>
                  <a:srgbClr val="8AB8F0"/>
                </a:solidFill>
                <a:latin typeface="Georgia"/>
              </a:rPr>
              <a:t>1</a:t>
            </a:r>
            <a:r>
              <a:rPr b="1" sz="1700" i="0">
                <a:solidFill>
                  <a:srgbClr val="8AB8F0"/>
                </a:solidFill>
                <a:latin typeface="Calibri"/>
              </a:rPr>
              <a:t>   BUILD &amp; RANK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514600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One graph per sense: every neuron </a:t>
            </a:r>
            <a:r>
              <a:rPr b="1" sz="1550" i="0">
                <a:solidFill>
                  <a:srgbClr val="F7F5F0"/>
                </a:solidFill>
                <a:latin typeface="Calibri"/>
              </a:rPr>
              <a:t>≤2 synapses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from a sensory input *and* ≤2 from a descending neuron</a:t>
            </a:r>
          </a:p>
          <a:p>
            <a:pPr>
              <a:spcAft>
                <a:spcPts val="12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Rank by </a:t>
            </a:r>
            <a:r>
              <a:rPr b="1" sz="1550" i="0">
                <a:solidFill>
                  <a:srgbClr val="F7F5F0"/>
                </a:solidFill>
                <a:latin typeface="Calibri"/>
              </a:rPr>
              <a:t>synapse-weighted betweenness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— a neuron scores only if the *strong* routes run through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0632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400" i="0">
                <a:solidFill>
                  <a:srgbClr val="9AA3B5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691640"/>
            <a:ext cx="3584448" cy="3429000"/>
          </a:xfrm>
          <a:prstGeom prst="roundRect">
            <a:avLst>
              <a:gd name="adj" fmla="val 4500"/>
            </a:avLst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691640"/>
            <a:ext cx="3584448" cy="82296"/>
          </a:xfrm>
          <a:prstGeom prst="rect">
            <a:avLst/>
          </a:prstGeom>
          <a:solidFill>
            <a:srgbClr val="F59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874519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i="0">
                <a:solidFill>
                  <a:srgbClr val="F59E6C"/>
                </a:solidFill>
                <a:latin typeface="Georgia"/>
              </a:rPr>
              <a:t>2</a:t>
            </a:r>
            <a:r>
              <a:rPr b="1" sz="1700" i="0">
                <a:solidFill>
                  <a:srgbClr val="F59E6C"/>
                </a:solidFill>
                <a:latin typeface="Calibri"/>
              </a:rPr>
              <a:t>   TEST IT — TWICE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514600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Degree-preserving shuffle: is the ranking just connection count?</a:t>
            </a:r>
          </a:p>
          <a:p>
            <a:pPr>
              <a:spcAft>
                <a:spcPts val="1200"/>
              </a:spcAft>
            </a:pPr>
            <a:r>
              <a:rPr b="1" sz="1550" i="0">
                <a:solidFill>
                  <a:srgbClr val="F7F5F0"/>
                </a:solidFill>
                <a:latin typeface="Calibri"/>
              </a:rPr>
              <a:t>Control the test itself: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run everything on a structureless graph, where every 'hit' is a false positive by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306324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400" i="0">
                <a:solidFill>
                  <a:srgbClr val="9AA3B5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691640"/>
            <a:ext cx="3584448" cy="3429000"/>
          </a:xfrm>
          <a:prstGeom prst="roundRect">
            <a:avLst>
              <a:gd name="adj" fmla="val 4500"/>
            </a:avLst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1691640"/>
            <a:ext cx="3584448" cy="82296"/>
          </a:xfrm>
          <a:prstGeom prst="rect">
            <a:avLst/>
          </a:prstGeom>
          <a:solidFill>
            <a:srgbClr val="52D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874519"/>
            <a:ext cx="31455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 i="0">
                <a:solidFill>
                  <a:srgbClr val="52D2A4"/>
                </a:solidFill>
                <a:latin typeface="Georgia"/>
              </a:rPr>
              <a:t>3</a:t>
            </a:r>
            <a:r>
              <a:rPr b="1" sz="1700" i="0">
                <a:solidFill>
                  <a:srgbClr val="52D2A4"/>
                </a:solidFill>
                <a:latin typeface="Calibri"/>
              </a:rPr>
              <a:t>   BREAK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514600"/>
            <a:ext cx="3145536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Delete each bottleneck; re-solve every sensory→motor route</a:t>
            </a:r>
          </a:p>
          <a:p>
            <a:pPr>
              <a:spcAft>
                <a:spcPts val="12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Rebuild the entire study in a second connectome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400" i="0">
                <a:solidFill>
                  <a:srgbClr val="9AA3B5"/>
                </a:solidFill>
                <a:latin typeface="Calibri"/>
              </a:rPr>
              <a:t>4 pathway graphs · ~1,000 betweenness evaluations for the nulls · 2 connectomes · fully reproducible (</a:t>
            </a:r>
            <a:r>
              <a:rPr sz="1400" i="0">
                <a:solidFill>
                  <a:srgbClr val="9AA3B5"/>
                </a:solidFill>
                <a:latin typeface="Consolas"/>
              </a:rPr>
              <a:t>networkx</a:t>
            </a:r>
            <a:r>
              <a:rPr b="0" sz="1400" i="0">
                <a:solidFill>
                  <a:srgbClr val="9AA3B5"/>
                </a:solidFill>
                <a:latin typeface="Calibri"/>
              </a:rPr>
              <a:t> / </a:t>
            </a:r>
            <a:r>
              <a:rPr sz="1400" i="0">
                <a:solidFill>
                  <a:srgbClr val="9AA3B5"/>
                </a:solidFill>
                <a:latin typeface="Consolas"/>
              </a:rPr>
              <a:t>scipy</a:t>
            </a:r>
            <a:r>
              <a:rPr b="0" sz="1400" i="0">
                <a:solidFill>
                  <a:srgbClr val="9AA3B5"/>
                </a:solidFill>
                <a:latin typeface="Calibri"/>
              </a:rP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AA3B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AA3B5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D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52D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52D2A4"/>
                </a:solidFill>
                <a:latin typeface="Calibri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F7F5F0"/>
                </a:solidFill>
                <a:latin typeface="Georgia"/>
              </a:rPr>
              <a:t>Positioned, replicated — but redundant</a:t>
            </a:r>
          </a:p>
        </p:txBody>
      </p:sp>
      <p:pic>
        <p:nvPicPr>
          <p:cNvPr id="6" name="Picture 5" descr="talk_fig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315200" cy="3072121"/>
          </a:xfrm>
          <a:prstGeom prst="rect">
            <a:avLst/>
          </a:prstGeom>
        </p:spPr>
      </p:pic>
      <p:pic>
        <p:nvPicPr>
          <p:cNvPr id="7" name="Picture 6" descr="talk_fig_de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36192"/>
            <a:ext cx="3794760" cy="1903691"/>
          </a:xfrm>
          <a:prstGeom prst="rect">
            <a:avLst/>
          </a:prstGeom>
        </p:spPr>
      </p:pic>
      <p:pic>
        <p:nvPicPr>
          <p:cNvPr id="8" name="Picture 7" descr="talk_fig_repl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3730752"/>
            <a:ext cx="3429000" cy="23367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48640" y="4736592"/>
            <a:ext cx="7086600" cy="1517904"/>
          </a:xfrm>
          <a:prstGeom prst="roundRect">
            <a:avLst>
              <a:gd name="adj" fmla="val 4500"/>
            </a:avLst>
          </a:prstGeom>
          <a:solidFill>
            <a:srgbClr val="1A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864608"/>
            <a:ext cx="45720" cy="1261872"/>
          </a:xfrm>
          <a:prstGeom prst="rect">
            <a:avLst/>
          </a:prstGeom>
          <a:solidFill>
            <a:srgbClr val="52D2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46320"/>
            <a:ext cx="6720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50" i="0">
                <a:solidFill>
                  <a:srgbClr val="F7F5F0"/>
                </a:solidFill>
                <a:latin typeface="Calibri"/>
              </a:rPr>
              <a:t>Dotted line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= the best score pure selection can invent (whole test run on a structureless graph).</a:t>
            </a:r>
          </a:p>
          <a:p>
            <a:pPr>
              <a:spcAft>
                <a:spcPts val="8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Only neurons </a:t>
            </a:r>
            <a:r>
              <a:rPr b="1" sz="1550" i="0">
                <a:solidFill>
                  <a:srgbClr val="F7F5F0"/>
                </a:solidFill>
                <a:latin typeface="Calibri"/>
              </a:rPr>
              <a:t>above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it are positioned beyond doubt: </a:t>
            </a:r>
            <a:r>
              <a:rPr b="1" sz="1550" i="0">
                <a:solidFill>
                  <a:srgbClr val="F7F5F0"/>
                </a:solidFill>
                <a:latin typeface="Calibri"/>
              </a:rPr>
              <a:t>15 olfactory · 2 mechanosensory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AA3B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AA3B5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F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EFC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EFC96B"/>
                </a:solidFill>
                <a:latin typeface="Calibri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700" i="0">
                <a:solidFill>
                  <a:srgbClr val="F7F5F0"/>
                </a:solidFill>
                <a:latin typeface="Georgia"/>
              </a:rPr>
              <a:t>Conserved chokepoints, no single point of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 i="0">
                <a:solidFill>
                  <a:srgbClr val="52D2A4"/>
                </a:solidFill>
                <a:latin typeface="Georgia"/>
              </a:rPr>
              <a:t>9 /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32888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AA3B5"/>
                </a:solidFill>
                <a:latin typeface="Calibri"/>
              </a:rPr>
              <a:t>top-25 cell types conserved across two connectomes (chance &lt;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 i="0">
                <a:solidFill>
                  <a:srgbClr val="F59E6C"/>
                </a:solidFill>
                <a:latin typeface="Georgia"/>
              </a:rPr>
              <a:t>~0.5 %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3288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AA3B5"/>
                </a:solidFill>
                <a:latin typeface="Calibri"/>
              </a:rPr>
              <a:t>route lengthening when any single chokepoint is deleted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78308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600" i="0">
                <a:solidFill>
                  <a:srgbClr val="8AB8F0"/>
                </a:solidFill>
                <a:latin typeface="Georgia"/>
              </a:rPr>
              <a:t>6 / 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532888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AA3B5"/>
                </a:solidFill>
                <a:latin typeface="Calibri"/>
              </a:rPr>
              <a:t>top neurons shared between two senses; none across all three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650" i="0">
                <a:solidFill>
                  <a:srgbClr val="F7F5F0"/>
                </a:solidFill>
                <a:latin typeface="Calibri"/>
              </a:rPr>
              <a:t>“Critical” depends on the question.</a:t>
            </a:r>
            <a:r>
              <a:rPr b="0" sz="1650" i="0">
                <a:solidFill>
                  <a:srgbClr val="F7F5F0"/>
                </a:solidFill>
                <a:latin typeface="Calibri"/>
              </a:rPr>
              <a:t>  Traffic (betweenness) ≠ necessity (deletion) ≠ conserved identity (replication) — measured here, and they disagree.</a:t>
            </a:r>
          </a:p>
          <a:p>
            <a:pPr>
              <a:spcAft>
                <a:spcPts val="1100"/>
              </a:spcAft>
            </a:pPr>
            <a:r>
              <a:rPr b="1" sz="1650" i="0">
                <a:solidFill>
                  <a:srgbClr val="F7F5F0"/>
                </a:solidFill>
                <a:latin typeface="Calibri"/>
              </a:rPr>
              <a:t>Two self-corrections:</a:t>
            </a:r>
            <a:r>
              <a:rPr b="0" sz="1650" i="0">
                <a:solidFill>
                  <a:srgbClr val="F7F5F0"/>
                </a:solidFill>
                <a:latin typeface="Calibri"/>
              </a:rPr>
              <a:t> the first “visual” pathway was really the ocellar reflex arc; a selection-bias control caught inflation in the degree null.</a:t>
            </a:r>
          </a:p>
          <a:p>
            <a:pPr>
              <a:spcAft>
                <a:spcPts val="1100"/>
              </a:spcAft>
            </a:pPr>
            <a:r>
              <a:rPr b="1" sz="1650" i="0">
                <a:solidFill>
                  <a:srgbClr val="9AA3B5"/>
                </a:solidFill>
                <a:latin typeface="Calibri"/>
              </a:rPr>
              <a:t>Next:</a:t>
            </a:r>
            <a:r>
              <a:rPr b="0" sz="1650" i="0">
                <a:solidFill>
                  <a:srgbClr val="9AA3B5"/>
                </a:solidFill>
                <a:latin typeface="Calibri"/>
              </a:rPr>
              <a:t> population-level deletions — behaviourally essential cells (T4, Mi9) sit at rank ~1000 here, so necessity lives at the population level.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85232"/>
            <a:ext cx="11109960" cy="932688"/>
          </a:xfrm>
          <a:prstGeom prst="roundRect">
            <a:avLst>
              <a:gd name="adj" fmla="val 4500"/>
            </a:avLst>
          </a:prstGeom>
          <a:solidFill>
            <a:srgbClr val="24314E"/>
          </a:solidFill>
          <a:ln w="15875">
            <a:solidFill>
              <a:srgbClr val="EFC9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94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700" i="1">
                <a:solidFill>
                  <a:srgbClr val="EFC96B"/>
                </a:solidFill>
                <a:latin typeface="Georgia"/>
              </a:rPr>
              <a:t>The fly brain's sensory-motor chokepoints are real, they're conserved across two connectomes — and you can cut any one of them without breaking anything.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AA3B5"/>
                </a:solidFill>
                <a:latin typeface="Calibri"/>
              </a:rPr>
              <a:t>Chokepoint neurons across sensory pathways · FlyWire FAFB v783 + MCNS v0.9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AA3B5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AA3B5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7F5F0"/>
                </a:solidFill>
                <a:latin typeface="Georgia"/>
              </a:rPr>
              <a:t>Pathway definitions and sizes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Graph: Codex FAFB v783 connections, ≥5 synapses per pair → 134k neurons, 2.70M edges; MCNS v0.9 → 6.24M edges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Targets: </a:t>
            </a:r>
            <a:r>
              <a:rPr sz="1550" i="0">
                <a:solidFill>
                  <a:srgbClr val="F7F5F0"/>
                </a:solidFill>
                <a:latin typeface="Consolas"/>
              </a:rPr>
              <a:t>super_class ∈ {descending, motor}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. Sources: olfactory = ORNs (1,765); mechanosensory = JO/mech afferents (1,675); visual = Lamina Monopolar + Tm + Mi families (17,004); ocellar = ocellar PRs (142)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Subgraph ≤2 hops each side. Olf 8.7k/163k · Mech 13.6k/373k · Visual 60.5k/1.23M (sampled-source, 500 seeds) · Ocellar 386/2.1k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</a:t>
            </a:r>
            <a:r>
              <a:rPr b="1" sz="1550" i="0">
                <a:solidFill>
                  <a:srgbClr val="F7F5F0"/>
                </a:solidFill>
                <a:latin typeface="Calibri"/>
              </a:rPr>
              <a:t>Correction: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original “visual” was 142 ocellar + 4 compound-eye PRs → renamed </a:t>
            </a:r>
            <a:r>
              <a:rPr sz="1550" i="0">
                <a:solidFill>
                  <a:srgbClr val="F7F5F0"/>
                </a:solidFill>
                <a:latin typeface="Consolas"/>
              </a:rPr>
              <a:t>ocellar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; spec-compliant </a:t>
            </a:r>
            <a:r>
              <a:rPr sz="1550" i="0">
                <a:solidFill>
                  <a:srgbClr val="F7F5F0"/>
                </a:solidFill>
                <a:latin typeface="Consolas"/>
              </a:rPr>
              <a:t>visual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rebuilt; MCNS visual replication withdrawn and redone like-for-like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Ocellar alone: Null B 13/50 vs selection floor 2.8/50; OCG01 at z≈0 → degree-driven reflex arc, not positional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AA3B5"/>
                </a:solidFill>
                <a:latin typeface="Calibri"/>
              </a:rPr>
              <a:t>Backup 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AA3B5"/>
                </a:solidFill>
                <a:latin typeface="Calibri"/>
              </a:rPr>
              <a:t>B1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AA3B5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7F5F0"/>
                </a:solidFill>
                <a:latin typeface="Georgia"/>
              </a:rPr>
              <a:t>Null B — degree-preserving null and its selection-bias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Directed double-edge swap, 5×|E| attempts, preserves in/out-degree and out-synapse total; 200 trials (olf/mech/ocellar), 30 (visual); BH-FDR on p_z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FDR survivors (top-50 / top-25): olfactory 37/20 · mechanosensory 43/20 · visual 29/16 · ocellar 13/12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</a:t>
            </a:r>
            <a:r>
              <a:rPr b="1" sz="1550" i="0">
                <a:solidFill>
                  <a:srgbClr val="F7F5F0"/>
                </a:solidFill>
                <a:latin typeface="Calibri"/>
              </a:rPr>
              <a:t>Control: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treat one shuffle as data, run the whole pipeline on it. False-positive floor: olf </a:t>
            </a:r>
            <a:r>
              <a:rPr b="1" sz="1550" i="0">
                <a:solidFill>
                  <a:srgbClr val="F7F5F0"/>
                </a:solidFill>
                <a:latin typeface="Calibri"/>
              </a:rPr>
              <a:t>16.0 ± 0.8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, mech </a:t>
            </a:r>
            <a:r>
              <a:rPr b="1" sz="1550" i="0">
                <a:solidFill>
                  <a:srgbClr val="F7F5F0"/>
                </a:solidFill>
                <a:latin typeface="Calibri"/>
              </a:rPr>
              <a:t>34.0 ± 2.2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, ocellar 2.8; max z from selection alone: 9.9 / 23.4 / 3.4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Above the ceiling: olfactory 15/50 (</a:t>
            </a:r>
            <a:r>
              <a:rPr sz="1550" i="0">
                <a:solidFill>
                  <a:srgbClr val="F7F5F0"/>
                </a:solidFill>
                <a:latin typeface="Consolas"/>
              </a:rPr>
              <a:t>MZ_lv2PN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z=35, </a:t>
            </a:r>
            <a:r>
              <a:rPr sz="1550" i="0">
                <a:solidFill>
                  <a:srgbClr val="F7F5F0"/>
                </a:solidFill>
                <a:latin typeface="Consolas"/>
              </a:rPr>
              <a:t>VES079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23, </a:t>
            </a:r>
            <a:r>
              <a:rPr sz="1550" i="0">
                <a:solidFill>
                  <a:srgbClr val="F7F5F0"/>
                </a:solidFill>
                <a:latin typeface="Consolas"/>
              </a:rPr>
              <a:t>AL-AST1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21, </a:t>
            </a:r>
            <a:r>
              <a:rPr sz="1550" i="0">
                <a:solidFill>
                  <a:srgbClr val="F7F5F0"/>
                </a:solidFill>
                <a:latin typeface="Consolas"/>
              </a:rPr>
              <a:t>lLN2T_c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17); mechanosensory 2/50 (</a:t>
            </a:r>
            <a:r>
              <a:rPr sz="1550" i="0">
                <a:solidFill>
                  <a:srgbClr val="F7F5F0"/>
                </a:solidFill>
                <a:latin typeface="Consolas"/>
              </a:rPr>
              <a:t>DNge132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31, </a:t>
            </a:r>
            <a:r>
              <a:rPr sz="1550" i="0">
                <a:solidFill>
                  <a:srgbClr val="F7F5F0"/>
                </a:solidFill>
                <a:latin typeface="Consolas"/>
              </a:rPr>
              <a:t>CB0021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23)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Null A (weight permutation): real weights displace rankings more than permuted (z 2.6–4.5); fails in ocellar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AA3B5"/>
                </a:solidFill>
                <a:latin typeface="Calibri"/>
              </a:rPr>
              <a:t>Backup B2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AA3B5"/>
                </a:solidFill>
                <a:latin typeface="Calibri"/>
              </a:rPr>
              <a:t>B2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AA3B5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7F5F0"/>
                </a:solidFill>
                <a:latin typeface="Georgia"/>
              </a:rPr>
              <a:t>Deletion test, cell-type cohorts, and the cross-modal six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Single deletion, 100 sources × all targets: top-50 mean detour 0.37 % (olf), 0.34 % (mech); rank-1000+ ≈ 0.000 %; MCNS 0.35 / 0.06 %; max single-neuron effect ≈ 4 %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A few FAFB deletions sever whole sensory sources — peripheral single-gateway cells, FAFB-only (0/45 in MCNS)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Whole cell types: nearly all superadditive but barely (median 1.02–1.14×); 14/75 beat matched random sets at z&gt;2 (</a:t>
            </a:r>
            <a:r>
              <a:rPr sz="1550" i="0">
                <a:solidFill>
                  <a:srgbClr val="F7F5F0"/>
                </a:solidFill>
                <a:latin typeface="Consolas"/>
              </a:rPr>
              <a:t>VA2_adPN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3.9×, z=+20)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Cross-modal six: </a:t>
            </a:r>
            <a:r>
              <a:rPr sz="1550" i="0">
                <a:solidFill>
                  <a:srgbClr val="F7F5F0"/>
                </a:solidFill>
                <a:latin typeface="Consolas"/>
              </a:rPr>
              <a:t>PVLP076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, </a:t>
            </a:r>
            <a:r>
              <a:rPr sz="1550" i="0">
                <a:solidFill>
                  <a:srgbClr val="F7F5F0"/>
                </a:solidFill>
                <a:latin typeface="Consolas"/>
              </a:rPr>
              <a:t>AVLP080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×2, </a:t>
            </a:r>
            <a:r>
              <a:rPr sz="1550" i="0">
                <a:solidFill>
                  <a:srgbClr val="F7F5F0"/>
                </a:solidFill>
                <a:latin typeface="Consolas"/>
              </a:rPr>
              <a:t>CB0677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, </a:t>
            </a:r>
            <a:r>
              <a:rPr sz="1550" i="0">
                <a:solidFill>
                  <a:srgbClr val="F7F5F0"/>
                </a:solidFill>
                <a:latin typeface="Consolas"/>
              </a:rPr>
              <a:t>PS124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, </a:t>
            </a:r>
            <a:r>
              <a:rPr sz="1550" i="0">
                <a:solidFill>
                  <a:srgbClr val="F7F5F0"/>
                </a:solidFill>
                <a:latin typeface="Consolas"/>
              </a:rPr>
              <a:t>CB0676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. None in all three senses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AA3B5"/>
                </a:solidFill>
                <a:latin typeface="Calibri"/>
              </a:rPr>
              <a:t>Backup 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AA3B5"/>
                </a:solidFill>
                <a:latin typeface="Calibri"/>
              </a:rPr>
              <a:t>B3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AA3B5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7F5F0"/>
                </a:solidFill>
                <a:latin typeface="Georgia"/>
              </a:rPr>
              <a:t>Metric dependence and ground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Betweenness vs synapse-count top-50 overlap: olf 23/50, legacy-visual 26/50, </a:t>
            </a:r>
            <a:r>
              <a:rPr b="1" sz="1550" i="0">
                <a:solidFill>
                  <a:srgbClr val="F7F5F0"/>
                </a:solidFill>
                <a:latin typeface="Calibri"/>
              </a:rPr>
              <a:t>mechanosensory 6/50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(chance ≈ 0.3) — mech is the pathway that needed the metric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Flow metrics (Bates 2025 influence; probabilistic traversal) agree with each other (ρ 0.77–0.89), not with betweenness (ρ ≈ 0–0.3)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Current-flow betweenness infeasible (&gt;24 h on smallest graph) — reported as a negative feasibility result</a:t>
            </a:r>
          </a:p>
          <a:p>
            <a:pPr>
              <a:spcAft>
                <a:spcPts val="1000"/>
              </a:spcAft>
            </a:pPr>
            <a:r>
              <a:rPr b="0" sz="1550" i="0">
                <a:solidFill>
                  <a:srgbClr val="F7F5F0"/>
                </a:solidFill>
                <a:latin typeface="Calibri"/>
              </a:rPr>
              <a:t>•  Literature screen: all *necessity* evidence (T4, Mi9 → motion-blind) is in the </a:t>
            </a:r>
            <a:r>
              <a:rPr b="1" sz="1550" i="0">
                <a:solidFill>
                  <a:srgbClr val="F7F5F0"/>
                </a:solidFill>
                <a:latin typeface="Calibri"/>
              </a:rPr>
              <a:t>control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arm; </a:t>
            </a:r>
            <a:r>
              <a:rPr sz="1550" i="0">
                <a:solidFill>
                  <a:srgbClr val="F7F5F0"/>
                </a:solidFill>
                <a:latin typeface="Consolas"/>
              </a:rPr>
              <a:t>lLN2T_c</a:t>
            </a:r>
            <a:r>
              <a:rPr b="0" sz="1550" i="0">
                <a:solidFill>
                  <a:srgbClr val="F7F5F0"/>
                </a:solidFill>
                <a:latin typeface="Calibri"/>
              </a:rPr>
              <a:t> silencing showed no odour-coding effect — consistent with the deletion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AA3B5"/>
                </a:solidFill>
                <a:latin typeface="Calibri"/>
              </a:rPr>
              <a:t>Backup B4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AA3B5"/>
                </a:solidFill>
                <a:latin typeface="Calibri"/>
              </a:rPr>
              <a:t>B4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75488"/>
            <a:ext cx="292608" cy="50292"/>
          </a:xfrm>
          <a:prstGeom prst="rect">
            <a:avLst/>
          </a:prstGeom>
          <a:solidFill>
            <a:srgbClr val="9AA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301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 i="0">
                <a:solidFill>
                  <a:srgbClr val="9AA3B5"/>
                </a:solidFill>
                <a:latin typeface="Calibri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 i="0">
                <a:solidFill>
                  <a:srgbClr val="F7F5F0"/>
                </a:solidFill>
                <a:latin typeface="Georgia"/>
              </a:rPr>
              <a:t>Replication detail (FAFB vs MaleCNS, 150 sampled sources, cell-type max)</a:t>
            </a:r>
          </a:p>
        </p:txBody>
      </p:sp>
      <p:pic>
        <p:nvPicPr>
          <p:cNvPr id="6" name="Picture 5" descr="talk_fig_re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501497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16916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sz="1350" i="0">
                <a:solidFill>
                  <a:srgbClr val="F7F5F0"/>
                </a:solidFill>
                <a:latin typeface="Calibri"/>
              </a:rPr>
              <a:t>•  Olfactory 9/25 (exp 0.52, p 2e-10), ρ 0.67: </a:t>
            </a:r>
            <a:r>
              <a:rPr sz="1350" i="0">
                <a:solidFill>
                  <a:srgbClr val="F7F5F0"/>
                </a:solidFill>
                <a:latin typeface="Consolas"/>
              </a:rPr>
              <a:t>lLN2T_c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v2LN30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il3LN6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MZ_lv2PN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AL-AST1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DM1_lPN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 …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F7F5F0"/>
                </a:solidFill>
                <a:latin typeface="Calibri"/>
              </a:rPr>
              <a:t>•  Mechanosensory 12/25 (exp 0.28), ρ 0.71: </a:t>
            </a:r>
            <a:r>
              <a:rPr sz="1350" i="0">
                <a:solidFill>
                  <a:srgbClr val="F7F5F0"/>
                </a:solidFill>
                <a:latin typeface="Consolas"/>
              </a:rPr>
              <a:t>DNg62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DNge132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DNge027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DNg35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PS124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PVLP076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 …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F7F5F0"/>
                </a:solidFill>
                <a:latin typeface="Calibri"/>
              </a:rPr>
              <a:t>•  Visual 13/25 (exp 0.27), ρ 0.70: </a:t>
            </a:r>
            <a:r>
              <a:rPr sz="1350" i="0">
                <a:solidFill>
                  <a:srgbClr val="F7F5F0"/>
                </a:solidFill>
                <a:latin typeface="Consolas"/>
              </a:rPr>
              <a:t>Am1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H2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LPT26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LT62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LT79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PVLP011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, </a:t>
            </a:r>
            <a:r>
              <a:rPr sz="1350" i="0">
                <a:solidFill>
                  <a:srgbClr val="F7F5F0"/>
                </a:solidFill>
                <a:latin typeface="Consolas"/>
              </a:rPr>
              <a:t>PS124</a:t>
            </a:r>
            <a:r>
              <a:rPr b="0" sz="1350" i="0">
                <a:solidFill>
                  <a:srgbClr val="F7F5F0"/>
                </a:solidFill>
                <a:latin typeface="Calibri"/>
              </a:rPr>
              <a:t> …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F7F5F0"/>
                </a:solidFill>
                <a:latin typeface="Calibri"/>
              </a:rPr>
              <a:t>•  Degree baseline: 20/18/19 of 25, ρ ≈ 0.9 — the *pathway* is conserved, not extra betweenness information</a:t>
            </a:r>
          </a:p>
          <a:p>
            <a:pPr>
              <a:spcAft>
                <a:spcPts val="800"/>
              </a:spcAft>
            </a:pPr>
            <a:r>
              <a:rPr b="0" sz="1350" i="0">
                <a:solidFill>
                  <a:srgbClr val="F7F5F0"/>
                </a:solidFill>
                <a:latin typeface="Calibri"/>
              </a:rPr>
              <a:t>•  Only mechanosensory reaches VNC motor neurons within 2+2 hops in MCNS — justifies the descending 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000" i="0">
                <a:solidFill>
                  <a:srgbClr val="9AA3B5"/>
                </a:solidFill>
                <a:latin typeface="Calibri"/>
              </a:rPr>
              <a:t>Backup B5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1" sz="1000" i="0">
                <a:solidFill>
                  <a:srgbClr val="9AA3B5"/>
                </a:solidFill>
                <a:latin typeface="Calibri"/>
              </a:rPr>
              <a:t>B5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