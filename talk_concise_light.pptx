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9A6B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9A6B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77724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400" i="0">
                <a:solidFill>
                  <a:srgbClr val="9A6B0F"/>
                </a:solidFill>
                <a:latin typeface="Calibri"/>
              </a:rPr>
              <a:t>FLYWIRE SUMMER INTERNSHIP 2026 · PROJECT 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280160"/>
            <a:ext cx="106070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4000" i="0">
                <a:solidFill>
                  <a:srgbClr val="212A38"/>
                </a:solidFill>
                <a:latin typeface="Georgia"/>
              </a:rPr>
              <a:t>Where does the fly's sensory traffic
squeeze through — and does anything
break if you cut it?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65760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900" i="0">
                <a:solidFill>
                  <a:srgbClr val="2E63A6"/>
                </a:solidFill>
                <a:latin typeface="Calibri"/>
              </a:rPr>
              <a:t>Finding — and stress-testing — the chokepoint neurons between the senses and the motor 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389120"/>
            <a:ext cx="2377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4200" i="0">
                <a:solidFill>
                  <a:srgbClr val="2E63A6"/>
                </a:solidFill>
                <a:latin typeface="Georgia"/>
              </a:rPr>
              <a:t>139k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120640"/>
            <a:ext cx="23774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300" i="0">
                <a:solidFill>
                  <a:srgbClr val="6E7785"/>
                </a:solidFill>
                <a:latin typeface="Calibri"/>
              </a:rPr>
              <a:t>neurons · whole brain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83280" y="4389120"/>
            <a:ext cx="2377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4200" i="0">
                <a:solidFill>
                  <a:srgbClr val="2E63A6"/>
                </a:solidFill>
                <a:latin typeface="Georgia"/>
              </a:rPr>
              <a:t>2.7M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83280" y="5120640"/>
            <a:ext cx="23774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300" i="0">
                <a:solidFill>
                  <a:srgbClr val="6E7785"/>
                </a:solidFill>
                <a:latin typeface="Calibri"/>
              </a:rPr>
              <a:t>weighted connections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0" y="4389120"/>
            <a:ext cx="2377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4200" i="0">
                <a:solidFill>
                  <a:srgbClr val="C25B1F"/>
                </a:solidFill>
                <a:latin typeface="Georgia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52160" y="5120640"/>
            <a:ext cx="23774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300" i="0">
                <a:solidFill>
                  <a:srgbClr val="6E7785"/>
                </a:solidFill>
                <a:latin typeface="Calibri"/>
              </a:rPr>
              <a:t>senses: smell · touch · vision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21040" y="4389120"/>
            <a:ext cx="3108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4200" i="0">
                <a:solidFill>
                  <a:srgbClr val="0F7A5C"/>
                </a:solidFill>
                <a:latin typeface="Georgi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21040" y="5120640"/>
            <a:ext cx="31089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300" i="0">
                <a:solidFill>
                  <a:srgbClr val="6E7785"/>
                </a:solidFill>
                <a:latin typeface="Calibri"/>
              </a:rPr>
              <a:t>connectomes: FlyWire + male CNS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59436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300" i="0">
                <a:solidFill>
                  <a:srgbClr val="6E7785"/>
                </a:solidFill>
                <a:latin typeface="Calibri"/>
              </a:rPr>
              <a:t>Pranav Voleti · Princeton Neuroscience Institute symposium · August 2026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455664"/>
            <a:ext cx="11064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000" i="0">
                <a:solidFill>
                  <a:srgbClr val="6E7785"/>
                </a:solidFill>
                <a:latin typeface="Calibri"/>
              </a:rPr>
              <a:t>Chokepoint neurons across sensory pathways · FlyWire FAFB v783 + MCNS v0.9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155680" y="6455664"/>
            <a:ext cx="502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1" sz="1000" i="0">
                <a:solidFill>
                  <a:srgbClr val="6E7785"/>
                </a:solidFill>
                <a:latin typeface="Calibri"/>
              </a:rPr>
              <a:t>1 / 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2E63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75488"/>
            <a:ext cx="292608" cy="50292"/>
          </a:xfrm>
          <a:prstGeom prst="rect">
            <a:avLst/>
          </a:prstGeom>
          <a:solidFill>
            <a:srgbClr val="2E63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301752"/>
            <a:ext cx="10607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300" i="0">
                <a:solidFill>
                  <a:srgbClr val="2E63A6"/>
                </a:solidFill>
                <a:latin typeface="Calibri"/>
              </a:rPr>
              <a:t>THE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8368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 i="0">
                <a:solidFill>
                  <a:srgbClr val="212A38"/>
                </a:solidFill>
                <a:latin typeface="Georgia"/>
              </a:rPr>
              <a:t>We can now see every wire in the brain — but not which ones matter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783080"/>
            <a:ext cx="108813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b="0" sz="1900" i="0">
                <a:solidFill>
                  <a:srgbClr val="212A38"/>
                </a:solidFill>
                <a:latin typeface="Calibri"/>
              </a:rPr>
              <a:t>Olfactory, mechanosensory and visual input must all converge onto the </a:t>
            </a:r>
            <a:r>
              <a:rPr b="1" sz="1900" i="0">
                <a:solidFill>
                  <a:srgbClr val="212A38"/>
                </a:solidFill>
                <a:latin typeface="Calibri"/>
              </a:rPr>
              <a:t>descending neurons</a:t>
            </a:r>
            <a:r>
              <a:rPr b="0" sz="1900" i="0">
                <a:solidFill>
                  <a:srgbClr val="212A38"/>
                </a:solidFill>
                <a:latin typeface="Calibri"/>
              </a:rPr>
              <a:t> — the shared endpoint every modality reaches within two hops.</a:t>
            </a:r>
          </a:p>
          <a:p>
            <a:pPr>
              <a:spcAft>
                <a:spcPts val="1200"/>
              </a:spcAft>
            </a:pPr>
            <a:r>
              <a:rPr b="0" sz="1900" i="0">
                <a:solidFill>
                  <a:srgbClr val="212A38"/>
                </a:solidFill>
                <a:latin typeface="Calibri"/>
              </a:rPr>
              <a:t>FAFB gives us the complete weighted graph. What it doesn't give us: </a:t>
            </a:r>
            <a:r>
              <a:rPr b="1" sz="1900" i="0">
                <a:solidFill>
                  <a:srgbClr val="212A38"/>
                </a:solidFill>
                <a:latin typeface="Calibri"/>
              </a:rPr>
              <a:t>which neurons the sensory→DN traffic actually depends 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3657600"/>
            <a:ext cx="3520440" cy="2011680"/>
          </a:xfrm>
          <a:prstGeom prst="roundRect">
            <a:avLst>
              <a:gd name="adj" fmla="val 4500"/>
            </a:avLst>
          </a:prstGeom>
          <a:solidFill>
            <a:srgbClr val="EFEB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3785616"/>
            <a:ext cx="45720" cy="1755648"/>
          </a:xfrm>
          <a:prstGeom prst="rect">
            <a:avLst/>
          </a:prstGeom>
          <a:solidFill>
            <a:srgbClr val="2E63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8" y="3767328"/>
            <a:ext cx="3154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500" i="0">
                <a:solidFill>
                  <a:srgbClr val="2E63A6"/>
                </a:solidFill>
                <a:latin typeface="Calibri"/>
              </a:rPr>
              <a:t>Which neurons?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4160520"/>
            <a:ext cx="3154680" cy="1444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b="0" sz="1600" i="0">
                <a:solidFill>
                  <a:srgbClr val="212A38"/>
                </a:solidFill>
                <a:latin typeface="Calibri"/>
              </a:rPr>
              <a:t>rank highest by synapse-weighted betweenness on sensory→DN paths, per modality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3400" y="3657600"/>
            <a:ext cx="3520440" cy="2011680"/>
          </a:xfrm>
          <a:prstGeom prst="roundRect">
            <a:avLst>
              <a:gd name="adj" fmla="val 4500"/>
            </a:avLst>
          </a:prstGeom>
          <a:solidFill>
            <a:srgbClr val="EFEB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43400" y="3785616"/>
            <a:ext cx="45720" cy="1755648"/>
          </a:xfrm>
          <a:prstGeom prst="rect">
            <a:avLst/>
          </a:prstGeom>
          <a:solidFill>
            <a:srgbClr val="C25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44568" y="3767328"/>
            <a:ext cx="3154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500" i="0">
                <a:solidFill>
                  <a:srgbClr val="C25B1F"/>
                </a:solidFill>
                <a:latin typeface="Calibri"/>
              </a:rPr>
              <a:t>Shared hubs?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44568" y="4160520"/>
            <a:ext cx="3154680" cy="1444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b="0" sz="1600" i="0">
                <a:solidFill>
                  <a:srgbClr val="212A38"/>
                </a:solidFill>
                <a:latin typeface="Calibri"/>
              </a:rPr>
              <a:t>are any high-betweenness neurons shared across modalities — brain-wide hubs?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3657600"/>
            <a:ext cx="3520440" cy="2011680"/>
          </a:xfrm>
          <a:prstGeom prst="roundRect">
            <a:avLst>
              <a:gd name="adj" fmla="val 4500"/>
            </a:avLst>
          </a:prstGeom>
          <a:solidFill>
            <a:srgbClr val="EFEB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46720" y="3785616"/>
            <a:ext cx="45720" cy="1755648"/>
          </a:xfrm>
          <a:prstGeom prst="rect">
            <a:avLst/>
          </a:prstGeom>
          <a:solidFill>
            <a:srgbClr val="0F7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47888" y="3767328"/>
            <a:ext cx="3154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500" i="0">
                <a:solidFill>
                  <a:srgbClr val="0F7A5C"/>
                </a:solidFill>
                <a:latin typeface="Calibri"/>
              </a:rPr>
              <a:t>Truly critical?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47888" y="4160520"/>
            <a:ext cx="3154680" cy="1444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b="0" sz="1600" i="0">
                <a:solidFill>
                  <a:srgbClr val="212A38"/>
                </a:solidFill>
                <a:latin typeface="Calibri"/>
              </a:rPr>
              <a:t>does single-neuron deletion lengthen or sever sensory→DN paths — or does the graph route around it?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5897880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500" i="1">
                <a:solidFill>
                  <a:srgbClr val="6E7785"/>
                </a:solidFill>
                <a:latin typeface="Calibri"/>
              </a:rPr>
              <a:t>Everything is replicated FAFB v783 → MaleCNS v0.9 at the cell-type level; nothing counts unless it recurs in both.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6455664"/>
            <a:ext cx="11064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000" i="0">
                <a:solidFill>
                  <a:srgbClr val="6E7785"/>
                </a:solidFill>
                <a:latin typeface="Calibri"/>
              </a:rPr>
              <a:t>Chokepoint neurons across sensory pathways · FlyWire FAFB v783 + MCNS v0.9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155680" y="6455664"/>
            <a:ext cx="502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1" sz="1000" i="0">
                <a:solidFill>
                  <a:srgbClr val="6E7785"/>
                </a:solidFill>
                <a:latin typeface="Calibri"/>
              </a:rPr>
              <a:t>2 / 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C25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75488"/>
            <a:ext cx="292608" cy="50292"/>
          </a:xfrm>
          <a:prstGeom prst="rect">
            <a:avLst/>
          </a:prstGeom>
          <a:solidFill>
            <a:srgbClr val="C25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301752"/>
            <a:ext cx="10607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300" i="0">
                <a:solidFill>
                  <a:srgbClr val="C25B1F"/>
                </a:solidFill>
                <a:latin typeface="Calibri"/>
              </a:rPr>
              <a:t>THE 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8368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 i="0">
                <a:solidFill>
                  <a:srgbClr val="212A38"/>
                </a:solidFill>
                <a:latin typeface="Georgia"/>
              </a:rPr>
              <a:t>Each sense has its own chokepoints — and no single point of failure</a:t>
            </a:r>
          </a:p>
        </p:txBody>
      </p:sp>
      <p:pic>
        <p:nvPicPr>
          <p:cNvPr id="6" name="Picture 5" descr="talk_fig_schemati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1288" y="1481328"/>
            <a:ext cx="9875520" cy="2098926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48640" y="3749039"/>
            <a:ext cx="4069080" cy="1627632"/>
          </a:xfrm>
          <a:prstGeom prst="roundRect">
            <a:avLst>
              <a:gd name="adj" fmla="val 4500"/>
            </a:avLst>
          </a:prstGeom>
          <a:solidFill>
            <a:srgbClr val="EFEB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3877055"/>
            <a:ext cx="45720" cy="1371600"/>
          </a:xfrm>
          <a:prstGeom prst="rect">
            <a:avLst/>
          </a:prstGeom>
          <a:solidFill>
            <a:srgbClr val="2E63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" y="3858767"/>
            <a:ext cx="3703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500" i="0">
                <a:solidFill>
                  <a:srgbClr val="2E63A6"/>
                </a:solidFill>
                <a:latin typeface="Calibri"/>
              </a:rPr>
              <a:t>1 · Where anatomy predicts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4251959"/>
            <a:ext cx="3703320" cy="10607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b="0" sz="1500" i="0">
                <a:solidFill>
                  <a:srgbClr val="212A38"/>
                </a:solidFill>
                <a:latin typeface="Calibri"/>
              </a:rPr>
              <a:t>Olf → AL LNs (lLN2T_c, v2LN30, MZ_lv2PN)</a:t>
            </a:r>
          </a:p>
          <a:p>
            <a:pPr>
              <a:spcAft>
                <a:spcPts val="500"/>
              </a:spcAft>
            </a:pPr>
            <a:r>
              <a:rPr b="0" sz="1500" i="0">
                <a:solidFill>
                  <a:srgbClr val="212A38"/>
                </a:solidFill>
                <a:latin typeface="Calibri"/>
              </a:rPr>
              <a:t>Mech → GNG DNs (DNge132, DNg62)</a:t>
            </a:r>
          </a:p>
          <a:p>
            <a:pPr>
              <a:spcAft>
                <a:spcPts val="500"/>
              </a:spcAft>
            </a:pPr>
            <a:r>
              <a:rPr b="0" sz="1500" i="0">
                <a:solidFill>
                  <a:srgbClr val="212A38"/>
                </a:solidFill>
                <a:latin typeface="Calibri"/>
              </a:rPr>
              <a:t>Vis → LPi / Am1 / H2 wide-field cells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754880" y="3749039"/>
            <a:ext cx="3474720" cy="1627632"/>
          </a:xfrm>
          <a:prstGeom prst="roundRect">
            <a:avLst>
              <a:gd name="adj" fmla="val 4500"/>
            </a:avLst>
          </a:prstGeom>
          <a:solidFill>
            <a:srgbClr val="EFEB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754880" y="3877055"/>
            <a:ext cx="45720" cy="1371600"/>
          </a:xfrm>
          <a:prstGeom prst="rect">
            <a:avLst/>
          </a:prstGeom>
          <a:solidFill>
            <a:srgbClr val="0F7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956048" y="3858767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500" i="0">
                <a:solidFill>
                  <a:srgbClr val="0F7A5C"/>
                </a:solidFill>
                <a:latin typeface="Calibri"/>
              </a:rPr>
              <a:t>2 · Conserved in a 2nd brain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56048" y="4251959"/>
            <a:ext cx="3108960" cy="10607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b="1" sz="1500" i="0">
                <a:solidFill>
                  <a:srgbClr val="212A38"/>
                </a:solidFill>
                <a:latin typeface="Calibri"/>
              </a:rPr>
              <a:t>9 / 12 / 13</a:t>
            </a:r>
            <a:r>
              <a:rPr b="0" sz="1500" i="0">
                <a:solidFill>
                  <a:srgbClr val="212A38"/>
                </a:solidFill>
                <a:latin typeface="Calibri"/>
              </a:rPr>
              <a:t> of top-25 types recur</a:t>
            </a:r>
          </a:p>
          <a:p>
            <a:pPr>
              <a:spcAft>
                <a:spcPts val="500"/>
              </a:spcAft>
            </a:pPr>
            <a:r>
              <a:rPr b="0" sz="1500" i="0">
                <a:solidFill>
                  <a:srgbClr val="212A38"/>
                </a:solidFill>
                <a:latin typeface="Calibri"/>
              </a:rPr>
              <a:t>chance expectation: </a:t>
            </a:r>
            <a:r>
              <a:rPr b="1" sz="1500" i="0">
                <a:solidFill>
                  <a:srgbClr val="212A38"/>
                </a:solidFill>
                <a:latin typeface="Calibri"/>
              </a:rPr>
              <a:t>&lt; 1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366760" y="3749039"/>
            <a:ext cx="3291840" cy="1627632"/>
          </a:xfrm>
          <a:prstGeom prst="roundRect">
            <a:avLst>
              <a:gd name="adj" fmla="val 4500"/>
            </a:avLst>
          </a:prstGeom>
          <a:solidFill>
            <a:srgbClr val="EFEB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366760" y="3877055"/>
            <a:ext cx="45720" cy="1371600"/>
          </a:xfrm>
          <a:prstGeom prst="rect">
            <a:avLst/>
          </a:prstGeom>
          <a:solidFill>
            <a:srgbClr val="C25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67928" y="3858767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500" i="0">
                <a:solidFill>
                  <a:srgbClr val="C25B1F"/>
                </a:solidFill>
                <a:latin typeface="Calibri"/>
              </a:rPr>
              <a:t>3 · None is required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67928" y="4251959"/>
            <a:ext cx="2926080" cy="10607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b="0" sz="1500" i="0">
                <a:solidFill>
                  <a:srgbClr val="212A38"/>
                </a:solidFill>
                <a:latin typeface="Calibri"/>
              </a:rPr>
              <a:t>delete any one → routes lengthen</a:t>
            </a:r>
          </a:p>
          <a:p>
            <a:pPr>
              <a:spcAft>
                <a:spcPts val="500"/>
              </a:spcAft>
            </a:pPr>
            <a:r>
              <a:rPr b="0" sz="1500" i="0">
                <a:solidFill>
                  <a:srgbClr val="212A38"/>
                </a:solidFill>
                <a:latin typeface="Calibri"/>
              </a:rPr>
              <a:t>just </a:t>
            </a:r>
            <a:r>
              <a:rPr b="1" sz="1500" i="0">
                <a:solidFill>
                  <a:srgbClr val="212A38"/>
                </a:solidFill>
                <a:latin typeface="Calibri"/>
              </a:rPr>
              <a:t>~0.5 %</a:t>
            </a:r>
            <a:r>
              <a:rPr b="0" sz="1500" i="0">
                <a:solidFill>
                  <a:srgbClr val="212A38"/>
                </a:solidFill>
                <a:latin typeface="Calibri"/>
              </a:rPr>
              <a:t> · nothing disconnects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5504688"/>
            <a:ext cx="11109960" cy="804672"/>
          </a:xfrm>
          <a:prstGeom prst="roundRect">
            <a:avLst>
              <a:gd name="adj" fmla="val 4500"/>
            </a:avLst>
          </a:prstGeom>
          <a:solidFill>
            <a:srgbClr val="E6E0D2"/>
          </a:solidFill>
          <a:ln w="15875">
            <a:solidFill>
              <a:srgbClr val="C25B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4672" y="5596128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800" i="0">
                <a:solidFill>
                  <a:srgbClr val="C25B1F"/>
                </a:solidFill>
                <a:latin typeface="Calibri"/>
              </a:rPr>
              <a:t>Structured but redundant </a:t>
            </a:r>
            <a:r>
              <a:rPr b="0" sz="1800" i="0">
                <a:solidFill>
                  <a:srgbClr val="212A38"/>
                </a:solidFill>
                <a:latin typeface="Calibri"/>
              </a:rPr>
              <a:t> — conserved junctions carry the traffic, but every one has a parallel route.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6455664"/>
            <a:ext cx="11064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000" i="0">
                <a:solidFill>
                  <a:srgbClr val="6E7785"/>
                </a:solidFill>
                <a:latin typeface="Calibri"/>
              </a:rPr>
              <a:t>Chokepoint neurons across sensory pathways · FlyWire FAFB v783 + MCNS v0.9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155680" y="6455664"/>
            <a:ext cx="502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1" sz="1000" i="0">
                <a:solidFill>
                  <a:srgbClr val="6E7785"/>
                </a:solidFill>
                <a:latin typeface="Calibri"/>
              </a:rPr>
              <a:t>3 / 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0F7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75488"/>
            <a:ext cx="292608" cy="50292"/>
          </a:xfrm>
          <a:prstGeom prst="rect">
            <a:avLst/>
          </a:prstGeom>
          <a:solidFill>
            <a:srgbClr val="0F7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301752"/>
            <a:ext cx="10607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300" i="0">
                <a:solidFill>
                  <a:srgbClr val="0F7A5C"/>
                </a:solidFill>
                <a:latin typeface="Calibri"/>
              </a:rPr>
              <a:t>DOES IT HOLD UP?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8368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 i="0">
                <a:solidFill>
                  <a:srgbClr val="212A38"/>
                </a:solidFill>
                <a:latin typeface="Georgia"/>
              </a:rPr>
              <a:t>Positioned beyond chance, replicated — but redundant</a:t>
            </a:r>
          </a:p>
        </p:txBody>
      </p:sp>
      <p:pic>
        <p:nvPicPr>
          <p:cNvPr id="6" name="Picture 5" descr="talk_fig_nu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554480"/>
            <a:ext cx="7315200" cy="3072121"/>
          </a:xfrm>
          <a:prstGeom prst="rect">
            <a:avLst/>
          </a:prstGeom>
        </p:spPr>
      </p:pic>
      <p:pic>
        <p:nvPicPr>
          <p:cNvPr id="7" name="Picture 6" descr="talk_fig_dele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1536192"/>
            <a:ext cx="3794760" cy="1903691"/>
          </a:xfrm>
          <a:prstGeom prst="rect">
            <a:avLst/>
          </a:prstGeom>
        </p:spPr>
      </p:pic>
      <p:pic>
        <p:nvPicPr>
          <p:cNvPr id="8" name="Picture 7" descr="talk_fig_replicati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83879" y="3730752"/>
            <a:ext cx="3429000" cy="2336719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548640" y="4736592"/>
            <a:ext cx="7086600" cy="1517904"/>
          </a:xfrm>
          <a:prstGeom prst="roundRect">
            <a:avLst>
              <a:gd name="adj" fmla="val 4500"/>
            </a:avLst>
          </a:prstGeom>
          <a:solidFill>
            <a:srgbClr val="EFEB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4864608"/>
            <a:ext cx="45720" cy="1261872"/>
          </a:xfrm>
          <a:prstGeom prst="rect">
            <a:avLst/>
          </a:prstGeom>
          <a:solidFill>
            <a:srgbClr val="0F7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4846320"/>
            <a:ext cx="67208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b="0" sz="1450" i="0">
                <a:solidFill>
                  <a:srgbClr val="212A38"/>
                </a:solidFill>
                <a:latin typeface="Calibri"/>
              </a:rPr>
              <a:t>Rankings tested against degree-preserving nulls (FDR q≤0.05) </a:t>
            </a:r>
            <a:r>
              <a:rPr b="1" sz="1450" i="0">
                <a:solidFill>
                  <a:srgbClr val="212A38"/>
                </a:solidFill>
                <a:latin typeface="Calibri"/>
              </a:rPr>
              <a:t>plus a selection-bias control</a:t>
            </a:r>
            <a:r>
              <a:rPr b="0" sz="1450" i="0">
                <a:solidFill>
                  <a:srgbClr val="212A38"/>
                </a:solidFill>
                <a:latin typeface="Calibri"/>
              </a:rPr>
              <a:t>: the full pipeline run on a shuffle-as-data graph, bounding the winner's-curse floor.</a:t>
            </a:r>
          </a:p>
          <a:p>
            <a:pPr>
              <a:spcAft>
                <a:spcPts val="800"/>
              </a:spcAft>
            </a:pPr>
            <a:r>
              <a:rPr b="0" sz="1450" i="0">
                <a:solidFill>
                  <a:srgbClr val="212A38"/>
                </a:solidFill>
                <a:latin typeface="Calibri"/>
              </a:rPr>
              <a:t>Above the selection ceiling: </a:t>
            </a:r>
            <a:r>
              <a:rPr b="1" sz="1450" i="0">
                <a:solidFill>
                  <a:srgbClr val="212A38"/>
                </a:solidFill>
                <a:latin typeface="Calibri"/>
              </a:rPr>
              <a:t>15 olfactory, 2 mechanosensory</a:t>
            </a:r>
            <a:r>
              <a:rPr b="0" sz="1450" i="0">
                <a:solidFill>
                  <a:srgbClr val="212A38"/>
                </a:solidFill>
                <a:latin typeface="Calibri"/>
              </a:rPr>
              <a:t> neurons. Deletion damage spans </a:t>
            </a:r>
            <a:r>
              <a:rPr b="1" sz="1450" i="0">
                <a:solidFill>
                  <a:srgbClr val="212A38"/>
                </a:solidFill>
                <a:latin typeface="Calibri"/>
              </a:rPr>
              <a:t>3 orders of magnitude</a:t>
            </a:r>
            <a:r>
              <a:rPr b="0" sz="1450" i="0">
                <a:solidFill>
                  <a:srgbClr val="212A38"/>
                </a:solidFill>
                <a:latin typeface="Calibri"/>
              </a:rPr>
              <a:t> from top-50 (~0.5 %) to rank-1000 (~0.000 %).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455664"/>
            <a:ext cx="11064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000" i="0">
                <a:solidFill>
                  <a:srgbClr val="6E7785"/>
                </a:solidFill>
                <a:latin typeface="Calibri"/>
              </a:rPr>
              <a:t>Chokepoint neurons across sensory pathways · FlyWire FAFB v783 + MCNS v0.9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55680" y="6455664"/>
            <a:ext cx="502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1" sz="1000" i="0">
                <a:solidFill>
                  <a:srgbClr val="6E7785"/>
                </a:solidFill>
                <a:latin typeface="Calibri"/>
              </a:rPr>
              <a:t>4 / 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9A6B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75488"/>
            <a:ext cx="292608" cy="50292"/>
          </a:xfrm>
          <a:prstGeom prst="rect">
            <a:avLst/>
          </a:prstGeom>
          <a:solidFill>
            <a:srgbClr val="9A6B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301752"/>
            <a:ext cx="10607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300" i="0">
                <a:solidFill>
                  <a:srgbClr val="9A6B0F"/>
                </a:solidFill>
                <a:latin typeface="Calibri"/>
              </a:rPr>
              <a:t>TAKEAWAY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8368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 i="0">
                <a:solidFill>
                  <a:srgbClr val="212A38"/>
                </a:solidFill>
                <a:latin typeface="Georgia"/>
              </a:rPr>
              <a:t>Conserved chokepoints, no single point of failure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83080"/>
            <a:ext cx="32918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3600" i="0">
                <a:solidFill>
                  <a:srgbClr val="0F7A5C"/>
                </a:solidFill>
                <a:latin typeface="Georgia"/>
              </a:rPr>
              <a:t>9 / 12 / 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514600"/>
            <a:ext cx="32918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300" i="0">
                <a:solidFill>
                  <a:srgbClr val="6E7785"/>
                </a:solidFill>
                <a:latin typeface="Calibri"/>
              </a:rPr>
              <a:t>top-25 cell types conserved across two connectomes (chance &lt; 1)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80560" y="1783080"/>
            <a:ext cx="3108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3600" i="0">
                <a:solidFill>
                  <a:srgbClr val="C25B1F"/>
                </a:solidFill>
                <a:latin typeface="Georgia"/>
              </a:rPr>
              <a:t>~0.5 %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80560" y="2514600"/>
            <a:ext cx="31089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300" i="0">
                <a:solidFill>
                  <a:srgbClr val="6E7785"/>
                </a:solidFill>
                <a:latin typeface="Calibri"/>
              </a:rPr>
              <a:t>route lengthening when any single chokepoint is deleted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55279" y="1783080"/>
            <a:ext cx="35661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3600" i="0">
                <a:solidFill>
                  <a:srgbClr val="2E63A6"/>
                </a:solidFill>
                <a:latin typeface="Georgia"/>
              </a:rPr>
              <a:t>6 / 200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55279" y="2514600"/>
            <a:ext cx="35661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300" i="0">
                <a:solidFill>
                  <a:srgbClr val="6E7785"/>
                </a:solidFill>
                <a:latin typeface="Calibri"/>
              </a:rPr>
              <a:t>top neurons shared between two senses; none across all three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566160"/>
            <a:ext cx="108813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</a:pPr>
            <a:r>
              <a:rPr b="0" sz="1700" i="0">
                <a:solidFill>
                  <a:srgbClr val="212A38"/>
                </a:solidFill>
                <a:latin typeface="Calibri"/>
              </a:rPr>
              <a:t>•  </a:t>
            </a:r>
            <a:r>
              <a:rPr b="1" sz="1700" i="0">
                <a:solidFill>
                  <a:srgbClr val="212A38"/>
                </a:solidFill>
                <a:latin typeface="Calibri"/>
              </a:rPr>
              <a:t>“Critical” depends on the question.</a:t>
            </a:r>
            <a:r>
              <a:rPr b="0" sz="1700" i="0">
                <a:solidFill>
                  <a:srgbClr val="212A38"/>
                </a:solidFill>
                <a:latin typeface="Calibri"/>
              </a:rPr>
              <a:t>  Carrying the traffic, being necessary, and being conserved are three different things — and in this brain they disagree.</a:t>
            </a:r>
          </a:p>
          <a:p>
            <a:pPr>
              <a:spcAft>
                <a:spcPts val="1100"/>
              </a:spcAft>
            </a:pPr>
            <a:r>
              <a:rPr b="0" sz="1700" i="0">
                <a:solidFill>
                  <a:srgbClr val="6E7785"/>
                </a:solidFill>
                <a:latin typeface="Calibri"/>
              </a:rPr>
              <a:t>•  </a:t>
            </a:r>
            <a:r>
              <a:rPr b="1" sz="1700" i="0">
                <a:solidFill>
                  <a:srgbClr val="6E7785"/>
                </a:solidFill>
                <a:latin typeface="Calibri"/>
              </a:rPr>
              <a:t>Next:</a:t>
            </a:r>
            <a:r>
              <a:rPr b="0" sz="1700" i="0">
                <a:solidFill>
                  <a:srgbClr val="6E7785"/>
                </a:solidFill>
                <a:latin typeface="Calibri"/>
              </a:rPr>
              <a:t> cohort-level deletions — T4/Mi9, behaviourally indispensable, sit at rank ~1000 in betweenness: necessity is a population property.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5285232"/>
            <a:ext cx="11109960" cy="932688"/>
          </a:xfrm>
          <a:prstGeom prst="roundRect">
            <a:avLst>
              <a:gd name="adj" fmla="val 4500"/>
            </a:avLst>
          </a:prstGeom>
          <a:solidFill>
            <a:srgbClr val="E6E0D2"/>
          </a:solidFill>
          <a:ln w="15875">
            <a:solidFill>
              <a:srgbClr val="9A6B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539496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700" i="1">
                <a:solidFill>
                  <a:srgbClr val="9A6B0F"/>
                </a:solidFill>
                <a:latin typeface="Georgia"/>
              </a:rPr>
              <a:t>The fly brain's sensory-motor chokepoints are real, they're conserved across two connectomes — and you can cut any one of them without breaking anything.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55664"/>
            <a:ext cx="11064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000" i="0">
                <a:solidFill>
                  <a:srgbClr val="6E7785"/>
                </a:solidFill>
                <a:latin typeface="Calibri"/>
              </a:rPr>
              <a:t>Chokepoint neurons across sensory pathways · FlyWire FAFB v783 + MCNS v0.9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55680" y="6455664"/>
            <a:ext cx="502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1" sz="1000" i="0">
                <a:solidFill>
                  <a:srgbClr val="6E7785"/>
                </a:solidFill>
                <a:latin typeface="Calibri"/>
              </a:rPr>
              <a:t>5 / 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