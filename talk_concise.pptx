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5" d="100"/>
          <a:sy n="85" d="100"/>
        </p:scale>
        <p:origin x="1554" y="5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0E146-AD4F-45A1-BCE0-FF147B557E8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E4CA3-64F8-4DB7-B2C0-CC99245F47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3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Olfactory, mechanosensory and visual input all have to converge onto the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descending neurons — the one endpoint every modality reaches within two hops.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question: on the way from the senses to the DNs, **which neurons carry the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traffic — and does the circuit actually depend on them?**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asked this in two connectomes — FAFB and the male CNS — so nothing counts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unless it recurs in both animals.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E4CA3-64F8-4DB7-B2C0-CC99245F47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98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FAFB gives us the complete weighted graph, but not which neurons the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sensory-to-DN traffic depends on. So, three questions. **Which neurons rank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highest by synapse-weighted betweenness on sensory-to-DN paths**, per modality?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**Are any of them shared across modalities** — brain-wide hubs? And are they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**truly critical** — does deleting one lengthen or sever the paths, or does the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 just route around it?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E4CA3-64F8-4DB7-B2C0-CC99245F47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07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*(gesture across the schematic)* One pathway graph per modality: sources on the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left, DNs on the right, everything within two hops of both in between. The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yellow cell is what I was hunting — the neuron the strong routes run through.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findings.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**One: every modality has these chokepoints, and they're the cells you'd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predict** — the antennal-lobe local network for olfaction, lLN2T_c and v2LN30;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gnathal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descending neurons for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mechanosensation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and for vision the wide-field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lobula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-plate cells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LPi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Am1, H2.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**Two: they're conserved.** Rebuild everything in the male CNS — different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animal, different sex, different pipeline — and nine, twelve, and thirteen of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top twenty-five cell types recur, against a chance expectation below one.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**Three — the headline — not one of them is required.** Delete any single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chokepoint and the strong routes lengthen by about half a percent. Nothing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disconnects. And cross-modal sharing is shallow: six of two hundred top neurons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span two modalities, none spans all three.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So: **structured but redundant** — conserved junctions carry the traffic, but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one has a parallel route.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E4CA3-64F8-4DB7-B2C0-CC99245F478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027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part I want you to trust. Every ranking was tested against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**degree-preserving nulls** at FDR five percent — is this just degree? Mostly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no. But I also ran a **selection-bias control**: the entire pipeline on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shuffled graph treated as data, where every survivor is a false positive by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construction. That bounds the winner's curse — and it caught real inflation in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 own earlier numbers. Above that ceiling: **fifteen olfactory and two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mechanosensory neurons** positioned beyond any doubt.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deletion damage spans **three orders of magnitude** — half a percent for a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top-fifty neuron, effectively zero at rank one thousand. The ranking is real;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stakes are just low. Same answer in the second connectome.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E4CA3-64F8-4DB7-B2C0-CC99245F478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09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So: **conserved chokepoints, no single point of failure.** The broader point —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"critical" depends on which question you ask. Betweenness, deletion damage, and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cross-connectome conservation are three different measurements, and here they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disagree. T4 and Mi9 —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behaviourally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indispensable — sit at rank one thousand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betweenness. **Necessity is a population property**, and cohort-level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deletions are exactly where this goes next.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fly brain's sensory-motor chokepoints are real, they're conserved across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connectomes — and you can cut any one of them without breaking anything.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E4CA3-64F8-4DB7-B2C0-CC99245F478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916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2C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2C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F2CE6E"/>
                </a:solidFill>
                <a:latin typeface="Calibri"/>
              </a:rPr>
              <a:t>FLYWIRE SUMMER INTERNSHIP 2026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 dirty="0">
                <a:solidFill>
                  <a:srgbClr val="F6F3EC"/>
                </a:solidFill>
                <a:latin typeface="Georgia"/>
              </a:rPr>
              <a:t>Where does the fly's sensory traffic
squeeze through — and does anything
break if you cut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8FC9F2"/>
                </a:solidFill>
                <a:latin typeface="Calibri"/>
              </a:rPr>
              <a:t>Finding — and stress-testing — the chokepoint neurons between the senses and the motor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 dirty="0">
                <a:solidFill>
                  <a:srgbClr val="8FC9F2"/>
                </a:solidFill>
                <a:latin typeface="Georgia"/>
              </a:rPr>
              <a:t>139k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DBCC0"/>
                </a:solidFill>
                <a:latin typeface="Calibri"/>
              </a:rPr>
              <a:t>neurons · whole brain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389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8FC9F2"/>
                </a:solidFill>
                <a:latin typeface="Georgia"/>
              </a:rPr>
              <a:t>2.7M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51206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DBCC0"/>
                </a:solidFill>
                <a:latin typeface="Calibri"/>
              </a:rPr>
              <a:t>weighted connections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38912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F6A463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51206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DBCC0"/>
                </a:solidFill>
                <a:latin typeface="Calibri"/>
              </a:rPr>
              <a:t>senses: smell · touch ·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3891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63E0B0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51206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 dirty="0">
                <a:solidFill>
                  <a:srgbClr val="9DBCC0"/>
                </a:solidFill>
                <a:latin typeface="Calibri"/>
              </a:rPr>
              <a:t>connectomes: FlyWire + male CNS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 dirty="0">
                <a:solidFill>
                  <a:srgbClr val="9DBCC0"/>
                </a:solidFill>
                <a:latin typeface="Calibri"/>
              </a:rPr>
              <a:t>Pranav Voleti · </a:t>
            </a:r>
            <a:r>
              <a:rPr lang="en-US" sz="1300" b="0" i="0" dirty="0">
                <a:solidFill>
                  <a:srgbClr val="9DBCC0"/>
                </a:solidFill>
                <a:latin typeface="Calibri"/>
              </a:rPr>
              <a:t>FlyWire Summer Internship</a:t>
            </a:r>
            <a:r>
              <a:rPr sz="1300" b="0" i="0" dirty="0">
                <a:solidFill>
                  <a:srgbClr val="9DBCC0"/>
                </a:solidFill>
                <a:latin typeface="Calibri"/>
              </a:rPr>
              <a:t>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10642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 dirty="0">
                <a:solidFill>
                  <a:srgbClr val="9DBCC0"/>
                </a:solidFill>
                <a:latin typeface="Calibri"/>
              </a:rPr>
              <a:t>Chokepoint neurons across sensory pathways · </a:t>
            </a:r>
            <a:r>
              <a:rPr sz="1000" b="0" i="0" dirty="0" err="1">
                <a:solidFill>
                  <a:srgbClr val="9DBCC0"/>
                </a:solidFill>
                <a:latin typeface="Calibri"/>
              </a:rPr>
              <a:t>Fly</a:t>
            </a:r>
            <a:r>
              <a:rPr lang="en-US" sz="1000" dirty="0" err="1">
                <a:solidFill>
                  <a:srgbClr val="9DBCC0"/>
                </a:solidFill>
                <a:latin typeface="Calibri"/>
              </a:rPr>
              <a:t>W</a:t>
            </a:r>
            <a:r>
              <a:rPr sz="1000" b="0" i="0" dirty="0" err="1">
                <a:solidFill>
                  <a:srgbClr val="9DBCC0"/>
                </a:solidFill>
                <a:latin typeface="Calibri"/>
              </a:rPr>
              <a:t>ire</a:t>
            </a:r>
            <a:r>
              <a:rPr sz="1000" b="0" i="0" dirty="0">
                <a:solidFill>
                  <a:srgbClr val="9DBCC0"/>
                </a:solidFill>
                <a:latin typeface="Calibri"/>
              </a:rPr>
              <a:t> FAFB v783 + MCNS v0.9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DBCC0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FC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8FC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8FC9F2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6F3EC"/>
                </a:solidFill>
                <a:latin typeface="Georgia"/>
              </a:rPr>
              <a:t>We can now see every wire in the brain — but not which ones matter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 i="0">
                <a:solidFill>
                  <a:srgbClr val="F6F3EC"/>
                </a:solidFill>
                <a:latin typeface="Calibri"/>
              </a:rPr>
              <a:t>Every signal from the fly's nose, antennae and eyes must reach </a:t>
            </a:r>
            <a:r>
              <a:rPr sz="1900" b="1" i="0">
                <a:solidFill>
                  <a:srgbClr val="F6F3EC"/>
                </a:solidFill>
                <a:latin typeface="Calibri"/>
              </a:rPr>
              <a:t>~1,300 descending neurons</a:t>
            </a:r>
            <a:r>
              <a:rPr sz="1900" b="0" i="0">
                <a:solidFill>
                  <a:srgbClr val="F6F3EC"/>
                </a:solidFill>
                <a:latin typeface="Calibri"/>
              </a:rPr>
              <a:t> — the only cells that carry commands to the body.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F6F3EC"/>
                </a:solidFill>
                <a:latin typeface="Calibri"/>
              </a:rPr>
              <a:t>The connectome gives us the complete wiring diagram. What it doesn't give us: </a:t>
            </a:r>
            <a:r>
              <a:rPr sz="1900" b="1" i="0">
                <a:solidFill>
                  <a:srgbClr val="F6F3EC"/>
                </a:solidFill>
                <a:latin typeface="Calibri"/>
              </a:rPr>
              <a:t>which neurons the traffic actually depends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57600"/>
            <a:ext cx="3520440" cy="2011680"/>
          </a:xfrm>
          <a:prstGeom prst="roundRect">
            <a:avLst>
              <a:gd name="adj" fmla="val 4500"/>
            </a:avLst>
          </a:prstGeom>
          <a:solidFill>
            <a:srgbClr val="11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3785616"/>
            <a:ext cx="45720" cy="1755648"/>
          </a:xfrm>
          <a:prstGeom prst="rect">
            <a:avLst/>
          </a:prstGeom>
          <a:solidFill>
            <a:srgbClr val="8FC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376732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8FC9F2"/>
                </a:solidFill>
                <a:latin typeface="Calibri"/>
              </a:rPr>
              <a:t>Which neurons?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160520"/>
            <a:ext cx="31546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F6F3EC"/>
                </a:solidFill>
                <a:latin typeface="Calibri"/>
              </a:rPr>
              <a:t>carry the strongest routes from each sense toward the motor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657600"/>
            <a:ext cx="3520440" cy="2011680"/>
          </a:xfrm>
          <a:prstGeom prst="roundRect">
            <a:avLst>
              <a:gd name="adj" fmla="val 4500"/>
            </a:avLst>
          </a:prstGeom>
          <a:solidFill>
            <a:srgbClr val="11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3785616"/>
            <a:ext cx="45720" cy="1755648"/>
          </a:xfrm>
          <a:prstGeom prst="rect">
            <a:avLst/>
          </a:prstGeom>
          <a:solidFill>
            <a:srgbClr val="F6A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376732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6A463"/>
                </a:solidFill>
                <a:latin typeface="Calibri"/>
              </a:rPr>
              <a:t>Shared hubs?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4160520"/>
            <a:ext cx="31546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F6F3EC"/>
                </a:solidFill>
                <a:latin typeface="Calibri"/>
              </a:rPr>
              <a:t>are any chokepoints shared between smell, touch and vision — brain-wide critical hubs?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657600"/>
            <a:ext cx="3520440" cy="2011680"/>
          </a:xfrm>
          <a:prstGeom prst="roundRect">
            <a:avLst>
              <a:gd name="adj" fmla="val 4500"/>
            </a:avLst>
          </a:prstGeom>
          <a:solidFill>
            <a:srgbClr val="11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3785616"/>
            <a:ext cx="45720" cy="1755648"/>
          </a:xfrm>
          <a:prstGeom prst="rect">
            <a:avLst/>
          </a:prstGeom>
          <a:solidFill>
            <a:srgbClr val="63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3767328"/>
            <a:ext cx="3154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63E0B0"/>
                </a:solidFill>
                <a:latin typeface="Calibri"/>
              </a:rPr>
              <a:t>Truly critical?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4160520"/>
            <a:ext cx="31546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F6F3EC"/>
                </a:solidFill>
                <a:latin typeface="Calibri"/>
              </a:rPr>
              <a:t>if you removed one, would the circuit actually break — or route around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9DBCC0"/>
                </a:solidFill>
                <a:latin typeface="Calibri"/>
              </a:rPr>
              <a:t>Answered in two independent whole-brain connectomes, so nothing counts unless it appears in both animals.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 dirty="0">
                <a:solidFill>
                  <a:srgbClr val="9DBCC0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DBCC0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6A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F6A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6A463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6F3EC"/>
                </a:solidFill>
                <a:latin typeface="Georgia"/>
              </a:rPr>
              <a:t>Each sense has its own chokepoints — and no single point of failure</a:t>
            </a:r>
          </a:p>
        </p:txBody>
      </p:sp>
      <p:pic>
        <p:nvPicPr>
          <p:cNvPr id="6" name="Picture 5" descr="talk_fig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32" y="1631869"/>
            <a:ext cx="9683496" cy="205811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836287"/>
            <a:ext cx="4069080" cy="1540384"/>
          </a:xfrm>
          <a:prstGeom prst="roundRect">
            <a:avLst>
              <a:gd name="adj" fmla="val 4500"/>
            </a:avLst>
          </a:prstGeom>
          <a:solidFill>
            <a:srgbClr val="11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3877055"/>
            <a:ext cx="45720" cy="1371600"/>
          </a:xfrm>
          <a:prstGeom prst="rect">
            <a:avLst/>
          </a:prstGeom>
          <a:solidFill>
            <a:srgbClr val="8FC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3936110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8FC9F2"/>
                </a:solidFill>
                <a:latin typeface="Calibri"/>
              </a:rPr>
              <a:t>1 · Where anatomy predicts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347590"/>
            <a:ext cx="37033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 i="0" dirty="0">
                <a:solidFill>
                  <a:srgbClr val="F6F3EC"/>
                </a:solidFill>
                <a:latin typeface="Calibri"/>
              </a:rPr>
              <a:t>Smell → antennal-lobe interneurons</a:t>
            </a:r>
          </a:p>
          <a:p>
            <a:pPr>
              <a:spcAft>
                <a:spcPts val="500"/>
              </a:spcAft>
            </a:pPr>
            <a:r>
              <a:rPr sz="1500" b="0" i="0" dirty="0">
                <a:solidFill>
                  <a:srgbClr val="F6F3EC"/>
                </a:solidFill>
                <a:latin typeface="Calibri"/>
              </a:rPr>
              <a:t>Touch → </a:t>
            </a:r>
            <a:r>
              <a:rPr sz="1500" b="0" i="0" dirty="0" err="1">
                <a:solidFill>
                  <a:srgbClr val="F6F3EC"/>
                </a:solidFill>
                <a:latin typeface="Calibri"/>
              </a:rPr>
              <a:t>gnathal</a:t>
            </a:r>
            <a:r>
              <a:rPr sz="1500" b="0" i="0" dirty="0">
                <a:solidFill>
                  <a:srgbClr val="F6F3EC"/>
                </a:solidFill>
                <a:latin typeface="Calibri"/>
              </a:rPr>
              <a:t>-ganglion descenders</a:t>
            </a:r>
          </a:p>
          <a:p>
            <a:pPr>
              <a:spcAft>
                <a:spcPts val="500"/>
              </a:spcAft>
            </a:pPr>
            <a:r>
              <a:rPr sz="1500" b="0" i="0" dirty="0">
                <a:solidFill>
                  <a:srgbClr val="F6F3EC"/>
                </a:solidFill>
                <a:latin typeface="Calibri"/>
              </a:rPr>
              <a:t>Vision → </a:t>
            </a:r>
            <a:r>
              <a:rPr sz="1500" b="0" i="0" dirty="0" err="1">
                <a:solidFill>
                  <a:srgbClr val="F6F3EC"/>
                </a:solidFill>
                <a:latin typeface="Calibri"/>
              </a:rPr>
              <a:t>lobula</a:t>
            </a:r>
            <a:r>
              <a:rPr sz="1500" b="0" i="0" dirty="0">
                <a:solidFill>
                  <a:srgbClr val="F6F3EC"/>
                </a:solidFill>
                <a:latin typeface="Calibri"/>
              </a:rPr>
              <a:t>-plate wide-field cells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858767"/>
            <a:ext cx="3474720" cy="1517904"/>
          </a:xfrm>
          <a:prstGeom prst="roundRect">
            <a:avLst>
              <a:gd name="adj" fmla="val 4500"/>
            </a:avLst>
          </a:prstGeom>
          <a:solidFill>
            <a:srgbClr val="11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54880" y="3877055"/>
            <a:ext cx="45720" cy="1371600"/>
          </a:xfrm>
          <a:prstGeom prst="rect">
            <a:avLst/>
          </a:prstGeom>
          <a:solidFill>
            <a:srgbClr val="63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931917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63E0B0"/>
                </a:solidFill>
                <a:latin typeface="Calibri"/>
              </a:rPr>
              <a:t>2 · Conserved in a 2nd brain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4352540"/>
            <a:ext cx="310896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i="0" dirty="0">
                <a:solidFill>
                  <a:srgbClr val="F6F3EC"/>
                </a:solidFill>
                <a:latin typeface="Calibri"/>
              </a:rPr>
              <a:t>9 / 12 / 13</a:t>
            </a:r>
            <a:r>
              <a:rPr sz="1500" b="0" i="0" dirty="0">
                <a:solidFill>
                  <a:srgbClr val="F6F3EC"/>
                </a:solidFill>
                <a:latin typeface="Calibri"/>
              </a:rPr>
              <a:t> of top-25 types recur</a:t>
            </a:r>
          </a:p>
          <a:p>
            <a:pPr>
              <a:spcAft>
                <a:spcPts val="500"/>
              </a:spcAft>
            </a:pPr>
            <a:r>
              <a:rPr sz="1500" b="0" i="0" dirty="0">
                <a:solidFill>
                  <a:srgbClr val="F6F3EC"/>
                </a:solidFill>
                <a:latin typeface="Calibri"/>
              </a:rPr>
              <a:t>chance expectation: </a:t>
            </a:r>
            <a:r>
              <a:rPr sz="1500" b="1" i="0" dirty="0">
                <a:solidFill>
                  <a:srgbClr val="F6F3EC"/>
                </a:solidFill>
                <a:latin typeface="Calibri"/>
              </a:rPr>
              <a:t>&lt;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3858767"/>
            <a:ext cx="3291840" cy="1517904"/>
          </a:xfrm>
          <a:prstGeom prst="roundRect">
            <a:avLst>
              <a:gd name="adj" fmla="val 4500"/>
            </a:avLst>
          </a:prstGeom>
          <a:solidFill>
            <a:srgbClr val="11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3877055"/>
            <a:ext cx="45720" cy="1371600"/>
          </a:xfrm>
          <a:prstGeom prst="rect">
            <a:avLst/>
          </a:prstGeom>
          <a:solidFill>
            <a:srgbClr val="F6A4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67928" y="394106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F6A463"/>
                </a:solidFill>
                <a:latin typeface="Calibri"/>
              </a:rPr>
              <a:t>3 · None is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4352542"/>
            <a:ext cx="29260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 i="0" dirty="0">
                <a:solidFill>
                  <a:srgbClr val="F6F3EC"/>
                </a:solidFill>
                <a:latin typeface="Calibri"/>
              </a:rPr>
              <a:t>delete any one → routes lengthen</a:t>
            </a:r>
          </a:p>
          <a:p>
            <a:pPr>
              <a:spcAft>
                <a:spcPts val="500"/>
              </a:spcAft>
            </a:pPr>
            <a:r>
              <a:rPr sz="1500" b="0" i="0" dirty="0">
                <a:solidFill>
                  <a:srgbClr val="F6F3EC"/>
                </a:solidFill>
                <a:latin typeface="Calibri"/>
              </a:rPr>
              <a:t>just </a:t>
            </a:r>
            <a:r>
              <a:rPr sz="1500" b="1" i="0" dirty="0">
                <a:solidFill>
                  <a:srgbClr val="F6F3EC"/>
                </a:solidFill>
                <a:latin typeface="Calibri"/>
              </a:rPr>
              <a:t>~0.5 %</a:t>
            </a:r>
            <a:r>
              <a:rPr sz="1500" b="0" i="0" dirty="0">
                <a:solidFill>
                  <a:srgbClr val="F6F3EC"/>
                </a:solidFill>
                <a:latin typeface="Calibri"/>
              </a:rPr>
              <a:t> · nothing disconnects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04688"/>
            <a:ext cx="11109960" cy="804672"/>
          </a:xfrm>
          <a:prstGeom prst="roundRect">
            <a:avLst>
              <a:gd name="adj" fmla="val 4500"/>
            </a:avLst>
          </a:prstGeom>
          <a:solidFill>
            <a:srgbClr val="184F5A"/>
          </a:solidFill>
          <a:ln w="15875">
            <a:solidFill>
              <a:srgbClr val="F6A4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55961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6A463"/>
                </a:solidFill>
                <a:latin typeface="Calibri"/>
              </a:rPr>
              <a:t>Structured but redundant </a:t>
            </a:r>
            <a:r>
              <a:rPr sz="1800" b="0" i="0">
                <a:solidFill>
                  <a:srgbClr val="F6F3EC"/>
                </a:solidFill>
                <a:latin typeface="Calibri"/>
              </a:rPr>
              <a:t> — conserved junctions carry the traffic, but every one has a parallel route.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 dirty="0">
                <a:solidFill>
                  <a:srgbClr val="9DBCC0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DBCC0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3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63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63E0B0"/>
                </a:solidFill>
                <a:latin typeface="Calibri"/>
              </a:rPr>
              <a:t>DOES IT HOLD UP?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6F3EC"/>
                </a:solidFill>
                <a:latin typeface="Georgia"/>
              </a:rPr>
              <a:t>Positioned beyond chance, replicated — but redundant</a:t>
            </a:r>
          </a:p>
        </p:txBody>
      </p:sp>
      <p:pic>
        <p:nvPicPr>
          <p:cNvPr id="6" name="Picture 5" descr="talk_fig_n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36192"/>
            <a:ext cx="7315200" cy="3090409"/>
          </a:xfrm>
          <a:prstGeom prst="rect">
            <a:avLst/>
          </a:prstGeom>
        </p:spPr>
      </p:pic>
      <p:pic>
        <p:nvPicPr>
          <p:cNvPr id="7" name="Picture 6" descr="talk_fig_dele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536192"/>
            <a:ext cx="3794760" cy="2029968"/>
          </a:xfrm>
          <a:prstGeom prst="rect">
            <a:avLst/>
          </a:prstGeom>
        </p:spPr>
      </p:pic>
      <p:pic>
        <p:nvPicPr>
          <p:cNvPr id="8" name="Picture 7" descr="talk_fig_replic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3767328"/>
            <a:ext cx="3794760" cy="24871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4736592"/>
            <a:ext cx="7315200" cy="1517904"/>
          </a:xfrm>
          <a:prstGeom prst="roundRect">
            <a:avLst>
              <a:gd name="adj" fmla="val 4500"/>
            </a:avLst>
          </a:prstGeom>
          <a:solidFill>
            <a:srgbClr val="114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4864345"/>
            <a:ext cx="45720" cy="1261872"/>
          </a:xfrm>
          <a:prstGeom prst="rect">
            <a:avLst/>
          </a:prstGeom>
          <a:solidFill>
            <a:srgbClr val="63E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4846320"/>
            <a:ext cx="6720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0" i="0" dirty="0">
                <a:solidFill>
                  <a:srgbClr val="F6F3EC"/>
                </a:solidFill>
                <a:latin typeface="Calibri"/>
              </a:rPr>
              <a:t>Every ranking was attacked with shuffled-wiring nulls — including one where the </a:t>
            </a:r>
            <a:r>
              <a:rPr sz="1450" b="1" i="0" dirty="0">
                <a:solidFill>
                  <a:srgbClr val="F6F3EC"/>
                </a:solidFill>
                <a:latin typeface="Calibri"/>
              </a:rPr>
              <a:t>entire test runs on a structureless graph</a:t>
            </a:r>
            <a:r>
              <a:rPr sz="1450" b="0" i="0" dirty="0">
                <a:solidFill>
                  <a:srgbClr val="F6F3EC"/>
                </a:solidFill>
                <a:latin typeface="Calibri"/>
              </a:rPr>
              <a:t>, so we know exactly how much 'signal' chance alone can fake.</a:t>
            </a:r>
          </a:p>
          <a:p>
            <a:pPr>
              <a:spcAft>
                <a:spcPts val="800"/>
              </a:spcAft>
            </a:pPr>
            <a:r>
              <a:rPr sz="1450" b="0" i="0" dirty="0">
                <a:solidFill>
                  <a:srgbClr val="F6F3EC"/>
                </a:solidFill>
                <a:latin typeface="Calibri"/>
              </a:rPr>
              <a:t>What survives: </a:t>
            </a:r>
            <a:r>
              <a:rPr sz="1450" b="1" i="0" dirty="0">
                <a:solidFill>
                  <a:srgbClr val="F6F3EC"/>
                </a:solidFill>
                <a:latin typeface="Calibri"/>
              </a:rPr>
              <a:t>15 olfactory and 2 mechanosensory</a:t>
            </a:r>
            <a:r>
              <a:rPr sz="1450" b="0" i="0" dirty="0">
                <a:solidFill>
                  <a:srgbClr val="F6F3EC"/>
                </a:solidFill>
                <a:latin typeface="Calibri"/>
              </a:rPr>
              <a:t> neurons positioned beyond all doubt — and a deletion gradient of </a:t>
            </a:r>
            <a:r>
              <a:rPr sz="1450" b="1" i="0" dirty="0">
                <a:solidFill>
                  <a:srgbClr val="F6F3EC"/>
                </a:solidFill>
                <a:latin typeface="Calibri"/>
              </a:rPr>
              <a:t>1,000×</a:t>
            </a:r>
            <a:r>
              <a:rPr sz="1450" b="0" i="0" dirty="0">
                <a:solidFill>
                  <a:srgbClr val="F6F3EC"/>
                </a:solidFill>
                <a:latin typeface="Calibri"/>
              </a:rPr>
              <a:t> between top and rank-1000 neurons.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 dirty="0">
                <a:solidFill>
                  <a:srgbClr val="9DBCC0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DBCC0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2C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F2C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2CE6E"/>
                </a:solidFill>
                <a:latin typeface="Calibri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6F3EC"/>
                </a:solidFill>
                <a:latin typeface="Georgia"/>
              </a:rPr>
              <a:t>Conserved chokepoints, no single point of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 dirty="0">
                <a:solidFill>
                  <a:srgbClr val="63E0B0"/>
                </a:solidFill>
                <a:latin typeface="Georgia"/>
              </a:rPr>
              <a:t>9 / 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 dirty="0">
                <a:solidFill>
                  <a:srgbClr val="9DBCC0"/>
                </a:solidFill>
                <a:latin typeface="Calibri"/>
              </a:rPr>
              <a:t>top-25 cell types conserved across two connectomes (chance &lt;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 dirty="0">
                <a:solidFill>
                  <a:srgbClr val="F6A463"/>
                </a:solidFill>
                <a:latin typeface="Georgia"/>
              </a:rPr>
              <a:t>~0.5 %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51460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DBCC0"/>
                </a:solidFill>
                <a:latin typeface="Calibri"/>
              </a:rPr>
              <a:t>route lengthening when any single chokepoint is deleted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69164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 dirty="0">
                <a:solidFill>
                  <a:srgbClr val="8FC9F2"/>
                </a:solidFill>
                <a:latin typeface="Georgia"/>
              </a:rPr>
              <a:t>6 / 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51460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DBCC0"/>
                </a:solidFill>
                <a:latin typeface="Calibri"/>
              </a:rPr>
              <a:t>top neurons shared between two senses; none across all three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F6F3EC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F6F3EC"/>
                </a:solidFill>
                <a:latin typeface="Calibri"/>
              </a:rPr>
              <a:t>“Critical” depends on the question.</a:t>
            </a:r>
            <a:r>
              <a:rPr sz="1700" b="0" i="0">
                <a:solidFill>
                  <a:srgbClr val="F6F3EC"/>
                </a:solidFill>
                <a:latin typeface="Calibri"/>
              </a:rPr>
              <a:t>  Carrying the traffic, being necessary, and being conserved are three different things — and in this brain they disagree.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9DBCC0"/>
                </a:solidFill>
                <a:latin typeface="Calibri"/>
              </a:rPr>
              <a:t>•  </a:t>
            </a:r>
            <a:r>
              <a:rPr sz="1700" b="1" i="0">
                <a:solidFill>
                  <a:srgbClr val="9DBCC0"/>
                </a:solidFill>
                <a:latin typeface="Calibri"/>
              </a:rPr>
              <a:t>Next:</a:t>
            </a:r>
            <a:r>
              <a:rPr sz="1700" b="0" i="0">
                <a:solidFill>
                  <a:srgbClr val="9DBCC0"/>
                </a:solidFill>
                <a:latin typeface="Calibri"/>
              </a:rPr>
              <a:t> population-level deletions — the behaviourally essential cells (T4, Mi9) rank ~1000 here, so necessity lives at the population level, not in single neurons.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85232"/>
            <a:ext cx="11109960" cy="932688"/>
          </a:xfrm>
          <a:prstGeom prst="roundRect">
            <a:avLst>
              <a:gd name="adj" fmla="val 4500"/>
            </a:avLst>
          </a:prstGeom>
          <a:solidFill>
            <a:srgbClr val="184F5A"/>
          </a:solidFill>
          <a:ln w="15875">
            <a:solidFill>
              <a:srgbClr val="F2C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394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1">
                <a:solidFill>
                  <a:srgbClr val="F2CE6E"/>
                </a:solidFill>
                <a:latin typeface="Georgia"/>
              </a:rPr>
              <a:t>The fly brain's sensory-motor chokepoints are real, they're conserved across two connectomes — and you can cut any one of them without breaking anything.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 dirty="0">
                <a:solidFill>
                  <a:srgbClr val="9DBCC0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DBCC0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1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D5FF8A-56DD-447E-33FF-68FBECFE9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A84EFA-1797-CAAF-C4C0-FEDEAE8F156A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2C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4547F-66F3-F3A6-C280-1D7475F33AD1}"/>
              </a:ext>
            </a:extLst>
          </p:cNvPr>
          <p:cNvSpPr txBox="1"/>
          <p:nvPr/>
        </p:nvSpPr>
        <p:spPr>
          <a:xfrm>
            <a:off x="2868621" y="1721358"/>
            <a:ext cx="68011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i="0" dirty="0">
                <a:solidFill>
                  <a:srgbClr val="F6F3EC"/>
                </a:solidFill>
                <a:latin typeface="Georgia"/>
              </a:rPr>
              <a:t>Got Questions?</a:t>
            </a:r>
            <a:endParaRPr sz="4800" b="1" i="0" dirty="0">
              <a:solidFill>
                <a:srgbClr val="F6F3EC"/>
              </a:solidFill>
              <a:latin typeface="Georg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249CF5-F863-DE93-6B32-2E4254F3431D}"/>
              </a:ext>
            </a:extLst>
          </p:cNvPr>
          <p:cNvSpPr txBox="1"/>
          <p:nvPr/>
        </p:nvSpPr>
        <p:spPr>
          <a:xfrm>
            <a:off x="2680180" y="2981384"/>
            <a:ext cx="68011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6A463"/>
                </a:solidFill>
                <a:latin typeface="Georgia"/>
              </a:rPr>
              <a:t>Pranvoleti2009@gmail.com</a:t>
            </a:r>
            <a:endParaRPr sz="3600" b="1" i="0" dirty="0">
              <a:solidFill>
                <a:srgbClr val="F6A463"/>
              </a:solidFill>
              <a:latin typeface="Georgi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84DEA2-EB60-6A1F-D33A-061ED1AE73D1}"/>
              </a:ext>
            </a:extLst>
          </p:cNvPr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 dirty="0">
                <a:solidFill>
                  <a:srgbClr val="9DBCC0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CEA252-1051-928C-0DC8-8B6834F23731}"/>
              </a:ext>
            </a:extLst>
          </p:cNvPr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9DBCC0"/>
                </a:solidFill>
                <a:latin typeface="Calibri"/>
              </a:rPr>
              <a:t>5 / 5</a:t>
            </a:r>
          </a:p>
        </p:txBody>
      </p:sp>
    </p:spTree>
    <p:extLst>
      <p:ext uri="{BB962C8B-B14F-4D97-AF65-F5344CB8AC3E}">
        <p14:creationId xmlns:p14="http://schemas.microsoft.com/office/powerpoint/2010/main" val="3381917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1132</TotalTime>
  <Words>1230</Words>
  <Application>Microsoft Office PowerPoint</Application>
  <PresentationFormat>Widescreen</PresentationFormat>
  <Paragraphs>125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Chodavarapu, Padmaja</cp:lastModifiedBy>
  <cp:revision>2</cp:revision>
  <dcterms:created xsi:type="dcterms:W3CDTF">2013-01-27T09:14:16Z</dcterms:created>
  <dcterms:modified xsi:type="dcterms:W3CDTF">2026-08-31T16:33:52Z</dcterms:modified>
  <cp:category/>
</cp:coreProperties>
</file>